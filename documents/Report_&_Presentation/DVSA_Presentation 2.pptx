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5303520" cy="5143500"/>
          </a:xfrm>
          <a:prstGeom prst="rect">
            <a:avLst/>
          </a:prstGeom>
          <a:solidFill>
            <a:srgbClr val="1E293B"/>
          </a:solidFill>
          <a:ln w="12700">
            <a:solidFill>
              <a:srgbClr val="1E293B"/>
            </a:solidFill>
            <a:prstDash val="solid"/>
          </a:ln>
        </p:spPr>
      </p:sp>
      <p:sp>
        <p:nvSpPr>
          <p:cNvPr id="3" name="Shape 1"/>
          <p:cNvSpPr/>
          <p:nvPr/>
        </p:nvSpPr>
        <p:spPr>
          <a:xfrm>
            <a:off x="0" y="0"/>
            <a:ext cx="109728" cy="5143500"/>
          </a:xfrm>
          <a:prstGeom prst="rect">
            <a:avLst/>
          </a:prstGeom>
          <a:solidFill>
            <a:srgbClr val="38BDF8"/>
          </a:solidFill>
          <a:ln w="12700">
            <a:solidFill>
              <a:srgbClr val="38BDF8"/>
            </a:solidFill>
            <a:prstDash val="solid"/>
          </a:ln>
        </p:spPr>
      </p:sp>
      <p:sp>
        <p:nvSpPr>
          <p:cNvPr id="4" name="Text 2"/>
          <p:cNvSpPr/>
          <p:nvPr/>
        </p:nvSpPr>
        <p:spPr>
          <a:xfrm>
            <a:off x="365760" y="731520"/>
            <a:ext cx="4754880" cy="1005840"/>
          </a:xfrm>
          <a:prstGeom prst="rect">
            <a:avLst/>
          </a:prstGeom>
          <a:noFill/>
          <a:ln/>
        </p:spPr>
        <p:txBody>
          <a:bodyPr wrap="square" lIns="0" tIns="0" rIns="0" bIns="0" rtlCol="0" anchor="ctr"/>
          <a:lstStyle/>
          <a:p>
            <a:pPr indent="0" marL="0">
              <a:buNone/>
            </a:pPr>
            <a:r>
              <a:rPr lang="en-US" sz="7200" b="1" dirty="0">
                <a:solidFill>
                  <a:srgbClr val="38BDF8"/>
                </a:solidFill>
                <a:latin typeface="Arial Black" pitchFamily="34" charset="0"/>
                <a:ea typeface="Arial Black" pitchFamily="34" charset="-122"/>
                <a:cs typeface="Arial Black" pitchFamily="34" charset="-120"/>
              </a:rPr>
              <a:t>DVSA</a:t>
            </a:r>
            <a:endParaRPr lang="en-US" sz="7200" dirty="0"/>
          </a:p>
        </p:txBody>
      </p:sp>
      <p:sp>
        <p:nvSpPr>
          <p:cNvPr id="5" name="Text 3"/>
          <p:cNvSpPr/>
          <p:nvPr/>
        </p:nvSpPr>
        <p:spPr>
          <a:xfrm>
            <a:off x="365760" y="1691640"/>
            <a:ext cx="4754880" cy="10972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Vulnerability Discovery</a:t>
            </a:r>
            <a:endParaRPr lang="en-US" sz="2200" dirty="0"/>
          </a:p>
          <a:p>
            <a:pPr indent="0" marL="0">
              <a:buNone/>
            </a:pPr>
            <a:r>
              <a:rPr lang="en-US" sz="2200" b="1" dirty="0">
                <a:solidFill>
                  <a:srgbClr val="FFFFFF"/>
                </a:solidFill>
                <a:latin typeface="Arial" pitchFamily="34" charset="0"/>
                <a:ea typeface="Arial" pitchFamily="34" charset="-122"/>
                <a:cs typeface="Arial" pitchFamily="34" charset="-120"/>
              </a:rPr>
              <a:t>&amp; Remediation</a:t>
            </a:r>
            <a:endParaRPr lang="en-US" sz="2200" dirty="0"/>
          </a:p>
        </p:txBody>
      </p:sp>
      <p:sp>
        <p:nvSpPr>
          <p:cNvPr id="6" name="Shape 4"/>
          <p:cNvSpPr/>
          <p:nvPr/>
        </p:nvSpPr>
        <p:spPr>
          <a:xfrm>
            <a:off x="365760" y="2880360"/>
            <a:ext cx="4206240" cy="36576"/>
          </a:xfrm>
          <a:prstGeom prst="rect">
            <a:avLst/>
          </a:prstGeom>
          <a:solidFill>
            <a:srgbClr val="38BDF8"/>
          </a:solidFill>
          <a:ln w="12700">
            <a:solidFill>
              <a:srgbClr val="38BDF8"/>
            </a:solidFill>
            <a:prstDash val="solid"/>
          </a:ln>
        </p:spPr>
      </p:sp>
      <p:sp>
        <p:nvSpPr>
          <p:cNvPr id="7" name="Text 5"/>
          <p:cNvSpPr/>
          <p:nvPr/>
        </p:nvSpPr>
        <p:spPr>
          <a:xfrm>
            <a:off x="365760" y="2999232"/>
            <a:ext cx="4754880" cy="1005840"/>
          </a:xfrm>
          <a:prstGeom prst="rect">
            <a:avLst/>
          </a:prstGeom>
          <a:noFill/>
          <a:ln/>
        </p:spPr>
        <p:txBody>
          <a:bodyPr wrap="square" rtlCol="0" anchor="ctr"/>
          <a:lstStyle/>
          <a:p>
            <a:pPr indent="0" marL="0">
              <a:buNone/>
            </a:pPr>
            <a:r>
              <a:rPr lang="en-US" sz="1100" dirty="0">
                <a:solidFill>
                  <a:srgbClr val="94A3B8"/>
                </a:solidFill>
              </a:rPr>
              <a:t>Course Project — ICS-344 Information Security
</a:t>
            </a:r>
            <a:pPr indent="0" marL="0">
              <a:buNone/>
            </a:pPr>
            <a:r>
              <a:rPr lang="en-US" sz="1100" dirty="0">
                <a:solidFill>
                  <a:srgbClr val="94A3B8"/>
                </a:solidFill>
              </a:rPr>
              <a:t>King Fahd University of Petroleum and Minerals
</a:t>
            </a:r>
            <a:pPr indent="0" marL="0">
              <a:buNone/>
            </a:pPr>
            <a:r>
              <a:rPr lang="en-US" sz="1100" dirty="0">
                <a:solidFill>
                  <a:srgbClr val="94A3B8"/>
                </a:solidFill>
              </a:rPr>
              <a:t>Term 252  |  April 2026</a:t>
            </a:r>
            <a:endParaRPr lang="en-US" sz="1100" dirty="0"/>
          </a:p>
        </p:txBody>
      </p:sp>
      <p:sp>
        <p:nvSpPr>
          <p:cNvPr id="8" name="Shape 6"/>
          <p:cNvSpPr/>
          <p:nvPr/>
        </p:nvSpPr>
        <p:spPr>
          <a:xfrm>
            <a:off x="5623560" y="960120"/>
            <a:ext cx="3291840" cy="1097280"/>
          </a:xfrm>
          <a:prstGeom prst="rect">
            <a:avLst/>
          </a:prstGeom>
          <a:solidFill>
            <a:srgbClr val="1E293B"/>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5623560" y="960120"/>
            <a:ext cx="54864" cy="1097280"/>
          </a:xfrm>
          <a:prstGeom prst="rect">
            <a:avLst/>
          </a:prstGeom>
          <a:solidFill>
            <a:srgbClr val="DC2626"/>
          </a:solidFill>
          <a:ln w="12700">
            <a:solidFill>
              <a:srgbClr val="DC2626"/>
            </a:solidFill>
            <a:prstDash val="solid"/>
          </a:ln>
        </p:spPr>
      </p:sp>
      <p:sp>
        <p:nvSpPr>
          <p:cNvPr id="10" name="Text 8"/>
          <p:cNvSpPr/>
          <p:nvPr/>
        </p:nvSpPr>
        <p:spPr>
          <a:xfrm>
            <a:off x="5806440" y="1069848"/>
            <a:ext cx="1371600" cy="868680"/>
          </a:xfrm>
          <a:prstGeom prst="rect">
            <a:avLst/>
          </a:prstGeom>
          <a:noFill/>
          <a:ln/>
        </p:spPr>
        <p:txBody>
          <a:bodyPr wrap="square" lIns="0" tIns="0" rIns="0" bIns="0" rtlCol="0" anchor="ctr"/>
          <a:lstStyle/>
          <a:p>
            <a:pPr indent="0" marL="0">
              <a:buNone/>
            </a:pPr>
            <a:r>
              <a:rPr lang="en-US" sz="3200" b="1" dirty="0">
                <a:solidFill>
                  <a:srgbClr val="DC2626"/>
                </a:solidFill>
                <a:latin typeface="Arial Black" pitchFamily="34" charset="0"/>
                <a:ea typeface="Arial Black" pitchFamily="34" charset="-122"/>
                <a:cs typeface="Arial Black" pitchFamily="34" charset="-120"/>
              </a:rPr>
              <a:t>10</a:t>
            </a:r>
            <a:endParaRPr lang="en-US" sz="3200" dirty="0"/>
          </a:p>
        </p:txBody>
      </p:sp>
      <p:sp>
        <p:nvSpPr>
          <p:cNvPr id="11" name="Text 9"/>
          <p:cNvSpPr/>
          <p:nvPr/>
        </p:nvSpPr>
        <p:spPr>
          <a:xfrm>
            <a:off x="7223760" y="1216152"/>
            <a:ext cx="1554480" cy="658368"/>
          </a:xfrm>
          <a:prstGeom prst="rect">
            <a:avLst/>
          </a:prstGeom>
          <a:noFill/>
          <a:ln/>
        </p:spPr>
        <p:txBody>
          <a:bodyPr wrap="square" lIns="0" tIns="0" rIns="0" bIns="0" rtlCol="0" anchor="ctr"/>
          <a:lstStyle/>
          <a:p>
            <a:pPr indent="0" marL="0">
              <a:buNone/>
            </a:pPr>
            <a:r>
              <a:rPr lang="en-US" sz="1200" dirty="0">
                <a:solidFill>
                  <a:srgbClr val="94A3B8"/>
                </a:solidFill>
              </a:rPr>
              <a:t>Official</a:t>
            </a:r>
            <a:endParaRPr lang="en-US" sz="1200" dirty="0"/>
          </a:p>
          <a:p>
            <a:pPr indent="0" marL="0">
              <a:buNone/>
            </a:pPr>
            <a:r>
              <a:rPr lang="en-US" sz="1200" dirty="0">
                <a:solidFill>
                  <a:srgbClr val="94A3B8"/>
                </a:solidFill>
              </a:rPr>
              <a:t>Vulnerabilities</a:t>
            </a:r>
            <a:endParaRPr lang="en-US" sz="1200" dirty="0"/>
          </a:p>
        </p:txBody>
      </p:sp>
      <p:sp>
        <p:nvSpPr>
          <p:cNvPr id="12" name="Shape 10"/>
          <p:cNvSpPr/>
          <p:nvPr/>
        </p:nvSpPr>
        <p:spPr>
          <a:xfrm>
            <a:off x="5623560" y="2258568"/>
            <a:ext cx="3291840" cy="1097280"/>
          </a:xfrm>
          <a:prstGeom prst="rect">
            <a:avLst/>
          </a:prstGeom>
          <a:solidFill>
            <a:srgbClr val="1E293B"/>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5623560" y="2258568"/>
            <a:ext cx="54864" cy="1097280"/>
          </a:xfrm>
          <a:prstGeom prst="rect">
            <a:avLst/>
          </a:prstGeom>
          <a:solidFill>
            <a:srgbClr val="1E3A8A"/>
          </a:solidFill>
          <a:ln w="12700">
            <a:solidFill>
              <a:srgbClr val="1E3A8A"/>
            </a:solidFill>
            <a:prstDash val="solid"/>
          </a:ln>
        </p:spPr>
      </p:sp>
      <p:sp>
        <p:nvSpPr>
          <p:cNvPr id="14" name="Text 12"/>
          <p:cNvSpPr/>
          <p:nvPr/>
        </p:nvSpPr>
        <p:spPr>
          <a:xfrm>
            <a:off x="5806440" y="2368296"/>
            <a:ext cx="1371600" cy="868680"/>
          </a:xfrm>
          <a:prstGeom prst="rect">
            <a:avLst/>
          </a:prstGeom>
          <a:noFill/>
          <a:ln/>
        </p:spPr>
        <p:txBody>
          <a:bodyPr wrap="square" lIns="0" tIns="0" rIns="0" bIns="0" rtlCol="0" anchor="ctr"/>
          <a:lstStyle/>
          <a:p>
            <a:pPr indent="0" marL="0">
              <a:buNone/>
            </a:pPr>
            <a:r>
              <a:rPr lang="en-US" sz="3200" b="1" dirty="0">
                <a:solidFill>
                  <a:srgbClr val="1E3A8A"/>
                </a:solidFill>
                <a:latin typeface="Arial Black" pitchFamily="34" charset="0"/>
                <a:ea typeface="Arial Black" pitchFamily="34" charset="-122"/>
                <a:cs typeface="Arial Black" pitchFamily="34" charset="-120"/>
              </a:rPr>
              <a:t>AWS</a:t>
            </a:r>
            <a:endParaRPr lang="en-US" sz="3200" dirty="0"/>
          </a:p>
        </p:txBody>
      </p:sp>
      <p:sp>
        <p:nvSpPr>
          <p:cNvPr id="15" name="Text 13"/>
          <p:cNvSpPr/>
          <p:nvPr/>
        </p:nvSpPr>
        <p:spPr>
          <a:xfrm>
            <a:off x="7223760" y="2514600"/>
            <a:ext cx="1554480" cy="658368"/>
          </a:xfrm>
          <a:prstGeom prst="rect">
            <a:avLst/>
          </a:prstGeom>
          <a:noFill/>
          <a:ln/>
        </p:spPr>
        <p:txBody>
          <a:bodyPr wrap="square" lIns="0" tIns="0" rIns="0" bIns="0" rtlCol="0" anchor="ctr"/>
          <a:lstStyle/>
          <a:p>
            <a:pPr indent="0" marL="0">
              <a:buNone/>
            </a:pPr>
            <a:r>
              <a:rPr lang="en-US" sz="1200" dirty="0">
                <a:solidFill>
                  <a:srgbClr val="94A3B8"/>
                </a:solidFill>
              </a:rPr>
              <a:t>Serverless</a:t>
            </a:r>
            <a:endParaRPr lang="en-US" sz="1200" dirty="0"/>
          </a:p>
          <a:p>
            <a:pPr indent="0" marL="0">
              <a:buNone/>
            </a:pPr>
            <a:r>
              <a:rPr lang="en-US" sz="1200" dirty="0">
                <a:solidFill>
                  <a:srgbClr val="94A3B8"/>
                </a:solidFill>
              </a:rPr>
              <a:t>Platform</a:t>
            </a:r>
            <a:endParaRPr lang="en-US" sz="1200" dirty="0"/>
          </a:p>
        </p:txBody>
      </p:sp>
      <p:sp>
        <p:nvSpPr>
          <p:cNvPr id="16" name="Shape 14"/>
          <p:cNvSpPr/>
          <p:nvPr/>
        </p:nvSpPr>
        <p:spPr>
          <a:xfrm>
            <a:off x="5623560" y="3557016"/>
            <a:ext cx="3291840" cy="1097280"/>
          </a:xfrm>
          <a:prstGeom prst="rect">
            <a:avLst/>
          </a:prstGeom>
          <a:solidFill>
            <a:srgbClr val="1E293B"/>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5623560" y="3557016"/>
            <a:ext cx="54864" cy="1097280"/>
          </a:xfrm>
          <a:prstGeom prst="rect">
            <a:avLst/>
          </a:prstGeom>
          <a:solidFill>
            <a:srgbClr val="16A34A"/>
          </a:solidFill>
          <a:ln w="12700">
            <a:solidFill>
              <a:srgbClr val="16A34A"/>
            </a:solidFill>
            <a:prstDash val="solid"/>
          </a:ln>
        </p:spPr>
      </p:sp>
      <p:sp>
        <p:nvSpPr>
          <p:cNvPr id="18" name="Text 16"/>
          <p:cNvSpPr/>
          <p:nvPr/>
        </p:nvSpPr>
        <p:spPr>
          <a:xfrm>
            <a:off x="5806440" y="3666744"/>
            <a:ext cx="1371600" cy="868680"/>
          </a:xfrm>
          <a:prstGeom prst="rect">
            <a:avLst/>
          </a:prstGeom>
          <a:noFill/>
          <a:ln/>
        </p:spPr>
        <p:txBody>
          <a:bodyPr wrap="square" lIns="0" tIns="0" rIns="0" bIns="0" rtlCol="0" anchor="ctr"/>
          <a:lstStyle/>
          <a:p>
            <a:pPr indent="0" marL="0">
              <a:buNone/>
            </a:pPr>
            <a:r>
              <a:rPr lang="en-US" sz="3200" b="1" dirty="0">
                <a:solidFill>
                  <a:srgbClr val="16A34A"/>
                </a:solidFill>
                <a:latin typeface="Arial Black" pitchFamily="34" charset="0"/>
                <a:ea typeface="Arial Black" pitchFamily="34" charset="-122"/>
                <a:cs typeface="Arial Black" pitchFamily="34" charset="-120"/>
              </a:rPr>
              <a:t>100%</a:t>
            </a:r>
            <a:endParaRPr lang="en-US" sz="3200" dirty="0"/>
          </a:p>
        </p:txBody>
      </p:sp>
      <p:sp>
        <p:nvSpPr>
          <p:cNvPr id="19" name="Text 17"/>
          <p:cNvSpPr/>
          <p:nvPr/>
        </p:nvSpPr>
        <p:spPr>
          <a:xfrm>
            <a:off x="7223760" y="3813048"/>
            <a:ext cx="1554480" cy="658368"/>
          </a:xfrm>
          <a:prstGeom prst="rect">
            <a:avLst/>
          </a:prstGeom>
          <a:noFill/>
          <a:ln/>
        </p:spPr>
        <p:txBody>
          <a:bodyPr wrap="square" lIns="0" tIns="0" rIns="0" bIns="0" rtlCol="0" anchor="ctr"/>
          <a:lstStyle/>
          <a:p>
            <a:pPr indent="0" marL="0">
              <a:buNone/>
            </a:pPr>
            <a:r>
              <a:rPr lang="en-US" sz="1200" dirty="0">
                <a:solidFill>
                  <a:srgbClr val="94A3B8"/>
                </a:solidFill>
              </a:rPr>
              <a:t>Exploited &amp; Fixed</a:t>
            </a:r>
            <a:endParaRPr lang="en-US" sz="1200" dirty="0"/>
          </a:p>
        </p:txBody>
      </p:sp>
      <p:sp>
        <p:nvSpPr>
          <p:cNvPr id="20" name="Text 18"/>
          <p:cNvSpPr/>
          <p:nvPr/>
        </p:nvSpPr>
        <p:spPr>
          <a:xfrm>
            <a:off x="5623560" y="4773168"/>
            <a:ext cx="3291840" cy="256032"/>
          </a:xfrm>
          <a:prstGeom prst="rect">
            <a:avLst/>
          </a:prstGeom>
          <a:noFill/>
          <a:ln/>
        </p:spPr>
        <p:txBody>
          <a:bodyPr wrap="square" rtlCol="0" anchor="ctr"/>
          <a:lstStyle/>
          <a:p>
            <a:pPr indent="0" marL="0">
              <a:buNone/>
            </a:pPr>
            <a:r>
              <a:rPr lang="en-US" sz="900" i="1" dirty="0">
                <a:solidFill>
                  <a:srgbClr val="94A3B8"/>
                </a:solidFill>
              </a:rPr>
              <a:t>[Student Name(s) &amp; ID(s)]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8A"/>
          </a:solidFill>
          <a:ln w="12700">
            <a:solidFill>
              <a:srgbClr val="1E3A8A"/>
            </a:solidFill>
            <a:prstDash val="solid"/>
          </a:ln>
        </p:spPr>
      </p:sp>
      <p:sp>
        <p:nvSpPr>
          <p:cNvPr id="3" name="Text 1"/>
          <p:cNvSpPr/>
          <p:nvPr/>
        </p:nvSpPr>
        <p:spPr>
          <a:xfrm>
            <a:off x="411480" y="164592"/>
            <a:ext cx="8229600" cy="502920"/>
          </a:xfrm>
          <a:prstGeom prst="rect">
            <a:avLst/>
          </a:prstGeom>
          <a:noFill/>
          <a:ln/>
        </p:spPr>
        <p:txBody>
          <a:bodyPr wrap="square" rtlCol="0" anchor="ctr"/>
          <a:lstStyle/>
          <a:p>
            <a:pPr indent="0" marL="0">
              <a:buNone/>
            </a:pPr>
            <a:r>
              <a:rPr lang="en-US" sz="2800" b="1" dirty="0">
                <a:solidFill>
                  <a:srgbClr val="0F172A"/>
                </a:solidFill>
                <a:latin typeface="Arial Black" pitchFamily="34" charset="0"/>
                <a:ea typeface="Arial Black" pitchFamily="34" charset="-122"/>
                <a:cs typeface="Arial Black" pitchFamily="34" charset="-120"/>
              </a:rPr>
              <a:t>Presentation Agenda</a:t>
            </a:r>
            <a:endParaRPr lang="en-US" sz="2800" dirty="0"/>
          </a:p>
        </p:txBody>
      </p:sp>
      <p:sp>
        <p:nvSpPr>
          <p:cNvPr id="4" name="Shape 2"/>
          <p:cNvSpPr/>
          <p:nvPr/>
        </p:nvSpPr>
        <p:spPr>
          <a:xfrm>
            <a:off x="0" y="4869180"/>
            <a:ext cx="9144000" cy="274320"/>
          </a:xfrm>
          <a:prstGeom prst="rect">
            <a:avLst/>
          </a:prstGeom>
          <a:solidFill>
            <a:srgbClr val="1E293B"/>
          </a:solidFill>
          <a:ln w="12700">
            <a:solidFill>
              <a:srgbClr val="1E293B"/>
            </a:solidFill>
            <a:prstDash val="solid"/>
          </a:ln>
        </p:spPr>
      </p:sp>
      <p:sp>
        <p:nvSpPr>
          <p:cNvPr id="5" name="Text 3"/>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6" name="Text 4"/>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2 / 15</a:t>
            </a:r>
            <a:endParaRPr lang="en-US" sz="700" dirty="0"/>
          </a:p>
        </p:txBody>
      </p:sp>
      <p:sp>
        <p:nvSpPr>
          <p:cNvPr id="7" name="Shape 5"/>
          <p:cNvSpPr/>
          <p:nvPr/>
        </p:nvSpPr>
        <p:spPr>
          <a:xfrm>
            <a:off x="320040" y="914400"/>
            <a:ext cx="4160520" cy="749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320040" y="914400"/>
            <a:ext cx="50292" cy="749808"/>
          </a:xfrm>
          <a:prstGeom prst="rect">
            <a:avLst/>
          </a:prstGeom>
          <a:solidFill>
            <a:srgbClr val="1E3A8A"/>
          </a:solidFill>
          <a:ln w="12700">
            <a:solidFill>
              <a:srgbClr val="1E3A8A"/>
            </a:solidFill>
            <a:prstDash val="solid"/>
          </a:ln>
        </p:spPr>
      </p:sp>
      <p:sp>
        <p:nvSpPr>
          <p:cNvPr id="9" name="Text 7"/>
          <p:cNvSpPr/>
          <p:nvPr/>
        </p:nvSpPr>
        <p:spPr>
          <a:xfrm>
            <a:off x="484632" y="987552"/>
            <a:ext cx="502920" cy="585216"/>
          </a:xfrm>
          <a:prstGeom prst="rect">
            <a:avLst/>
          </a:prstGeom>
          <a:noFill/>
          <a:ln/>
        </p:spPr>
        <p:txBody>
          <a:bodyPr wrap="square" lIns="0" tIns="0" rIns="0" bIns="0" rtlCol="0" anchor="ctr"/>
          <a:lstStyle/>
          <a:p>
            <a:pPr indent="0" marL="0">
              <a:buNone/>
            </a:pPr>
            <a:r>
              <a:rPr lang="en-US" sz="2200" b="1" dirty="0">
                <a:solidFill>
                  <a:srgbClr val="38BDF8"/>
                </a:solidFill>
                <a:latin typeface="Arial Black" pitchFamily="34" charset="0"/>
                <a:ea typeface="Arial Black" pitchFamily="34" charset="-122"/>
                <a:cs typeface="Arial Black" pitchFamily="34" charset="-120"/>
              </a:rPr>
              <a:t>01</a:t>
            </a:r>
            <a:endParaRPr lang="en-US" sz="2200" dirty="0"/>
          </a:p>
        </p:txBody>
      </p:sp>
      <p:sp>
        <p:nvSpPr>
          <p:cNvPr id="10" name="Text 8"/>
          <p:cNvSpPr/>
          <p:nvPr/>
        </p:nvSpPr>
        <p:spPr>
          <a:xfrm>
            <a:off x="1033272" y="1005840"/>
            <a:ext cx="3291840" cy="274320"/>
          </a:xfrm>
          <a:prstGeom prst="rect">
            <a:avLst/>
          </a:prstGeom>
          <a:noFill/>
          <a:ln/>
        </p:spPr>
        <p:txBody>
          <a:bodyPr wrap="square" lIns="0" tIns="0" rIns="0" bIns="0" rtlCol="0" anchor="ctr"/>
          <a:lstStyle/>
          <a:p>
            <a:pPr indent="0" marL="0">
              <a:buNone/>
            </a:pPr>
            <a:r>
              <a:rPr lang="en-US" sz="1300" b="1" dirty="0">
                <a:solidFill>
                  <a:srgbClr val="0F172A"/>
                </a:solidFill>
              </a:rPr>
              <a:t>Setup &amp; Architecture</a:t>
            </a:r>
            <a:endParaRPr lang="en-US" sz="1300" dirty="0"/>
          </a:p>
        </p:txBody>
      </p:sp>
      <p:sp>
        <p:nvSpPr>
          <p:cNvPr id="11" name="Text 9"/>
          <p:cNvSpPr/>
          <p:nvPr/>
        </p:nvSpPr>
        <p:spPr>
          <a:xfrm>
            <a:off x="1033272" y="1316736"/>
            <a:ext cx="3291840" cy="256032"/>
          </a:xfrm>
          <a:prstGeom prst="rect">
            <a:avLst/>
          </a:prstGeom>
          <a:noFill/>
          <a:ln/>
        </p:spPr>
        <p:txBody>
          <a:bodyPr wrap="square" lIns="0" tIns="0" rIns="0" bIns="0" rtlCol="0" anchor="ctr"/>
          <a:lstStyle/>
          <a:p>
            <a:pPr indent="0" marL="0">
              <a:buNone/>
            </a:pPr>
            <a:r>
              <a:rPr lang="en-US" sz="900" dirty="0">
                <a:solidFill>
                  <a:srgbClr val="94A3B8"/>
                </a:solidFill>
              </a:rPr>
              <a:t>DVSA deployment on AWS Serverless</a:t>
            </a:r>
            <a:endParaRPr lang="en-US" sz="900" dirty="0"/>
          </a:p>
        </p:txBody>
      </p:sp>
      <p:sp>
        <p:nvSpPr>
          <p:cNvPr id="12" name="Shape 10"/>
          <p:cNvSpPr/>
          <p:nvPr/>
        </p:nvSpPr>
        <p:spPr>
          <a:xfrm>
            <a:off x="320040" y="1828800"/>
            <a:ext cx="4160520" cy="749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320040" y="1828800"/>
            <a:ext cx="50292" cy="749808"/>
          </a:xfrm>
          <a:prstGeom prst="rect">
            <a:avLst/>
          </a:prstGeom>
          <a:solidFill>
            <a:srgbClr val="1E3A8A"/>
          </a:solidFill>
          <a:ln w="12700">
            <a:solidFill>
              <a:srgbClr val="1E3A8A"/>
            </a:solidFill>
            <a:prstDash val="solid"/>
          </a:ln>
        </p:spPr>
      </p:sp>
      <p:sp>
        <p:nvSpPr>
          <p:cNvPr id="14" name="Text 12"/>
          <p:cNvSpPr/>
          <p:nvPr/>
        </p:nvSpPr>
        <p:spPr>
          <a:xfrm>
            <a:off x="484632" y="1901952"/>
            <a:ext cx="502920" cy="585216"/>
          </a:xfrm>
          <a:prstGeom prst="rect">
            <a:avLst/>
          </a:prstGeom>
          <a:noFill/>
          <a:ln/>
        </p:spPr>
        <p:txBody>
          <a:bodyPr wrap="square" lIns="0" tIns="0" rIns="0" bIns="0" rtlCol="0" anchor="ctr"/>
          <a:lstStyle/>
          <a:p>
            <a:pPr indent="0" marL="0">
              <a:buNone/>
            </a:pPr>
            <a:r>
              <a:rPr lang="en-US" sz="2200" b="1" dirty="0">
                <a:solidFill>
                  <a:srgbClr val="38BDF8"/>
                </a:solidFill>
                <a:latin typeface="Arial Black" pitchFamily="34" charset="0"/>
                <a:ea typeface="Arial Black" pitchFamily="34" charset="-122"/>
                <a:cs typeface="Arial Black" pitchFamily="34" charset="-120"/>
              </a:rPr>
              <a:t>02</a:t>
            </a:r>
            <a:endParaRPr lang="en-US" sz="2200" dirty="0"/>
          </a:p>
        </p:txBody>
      </p:sp>
      <p:sp>
        <p:nvSpPr>
          <p:cNvPr id="15" name="Text 13"/>
          <p:cNvSpPr/>
          <p:nvPr/>
        </p:nvSpPr>
        <p:spPr>
          <a:xfrm>
            <a:off x="1033272" y="1920240"/>
            <a:ext cx="3291840" cy="274320"/>
          </a:xfrm>
          <a:prstGeom prst="rect">
            <a:avLst/>
          </a:prstGeom>
          <a:noFill/>
          <a:ln/>
        </p:spPr>
        <p:txBody>
          <a:bodyPr wrap="square" lIns="0" tIns="0" rIns="0" bIns="0" rtlCol="0" anchor="ctr"/>
          <a:lstStyle/>
          <a:p>
            <a:pPr indent="0" marL="0">
              <a:buNone/>
            </a:pPr>
            <a:r>
              <a:rPr lang="en-US" sz="1300" b="1" dirty="0">
                <a:solidFill>
                  <a:srgbClr val="0F172A"/>
                </a:solidFill>
              </a:rPr>
              <a:t>Lessons 1 &amp; 9</a:t>
            </a:r>
            <a:endParaRPr lang="en-US" sz="1300" dirty="0"/>
          </a:p>
        </p:txBody>
      </p:sp>
      <p:sp>
        <p:nvSpPr>
          <p:cNvPr id="16" name="Text 14"/>
          <p:cNvSpPr/>
          <p:nvPr/>
        </p:nvSpPr>
        <p:spPr>
          <a:xfrm>
            <a:off x="1033272" y="2231136"/>
            <a:ext cx="3291840" cy="256032"/>
          </a:xfrm>
          <a:prstGeom prst="rect">
            <a:avLst/>
          </a:prstGeom>
          <a:noFill/>
          <a:ln/>
        </p:spPr>
        <p:txBody>
          <a:bodyPr wrap="square" lIns="0" tIns="0" rIns="0" bIns="0" rtlCol="0" anchor="ctr"/>
          <a:lstStyle/>
          <a:p>
            <a:pPr indent="0" marL="0">
              <a:buNone/>
            </a:pPr>
            <a:r>
              <a:rPr lang="en-US" sz="900" dirty="0">
                <a:solidFill>
                  <a:srgbClr val="94A3B8"/>
                </a:solidFill>
              </a:rPr>
              <a:t>Event Injection + Vulnerable Dependencies</a:t>
            </a:r>
            <a:endParaRPr lang="en-US" sz="900" dirty="0"/>
          </a:p>
        </p:txBody>
      </p:sp>
      <p:sp>
        <p:nvSpPr>
          <p:cNvPr id="17" name="Shape 15"/>
          <p:cNvSpPr/>
          <p:nvPr/>
        </p:nvSpPr>
        <p:spPr>
          <a:xfrm>
            <a:off x="320040" y="2743200"/>
            <a:ext cx="4160520" cy="749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320040" y="2743200"/>
            <a:ext cx="50292" cy="749808"/>
          </a:xfrm>
          <a:prstGeom prst="rect">
            <a:avLst/>
          </a:prstGeom>
          <a:solidFill>
            <a:srgbClr val="1E3A8A"/>
          </a:solidFill>
          <a:ln w="12700">
            <a:solidFill>
              <a:srgbClr val="1E3A8A"/>
            </a:solidFill>
            <a:prstDash val="solid"/>
          </a:ln>
        </p:spPr>
      </p:sp>
      <p:sp>
        <p:nvSpPr>
          <p:cNvPr id="19" name="Text 17"/>
          <p:cNvSpPr/>
          <p:nvPr/>
        </p:nvSpPr>
        <p:spPr>
          <a:xfrm>
            <a:off x="484632" y="2816352"/>
            <a:ext cx="502920" cy="585216"/>
          </a:xfrm>
          <a:prstGeom prst="rect">
            <a:avLst/>
          </a:prstGeom>
          <a:noFill/>
          <a:ln/>
        </p:spPr>
        <p:txBody>
          <a:bodyPr wrap="square" lIns="0" tIns="0" rIns="0" bIns="0" rtlCol="0" anchor="ctr"/>
          <a:lstStyle/>
          <a:p>
            <a:pPr indent="0" marL="0">
              <a:buNone/>
            </a:pPr>
            <a:r>
              <a:rPr lang="en-US" sz="2200" b="1" dirty="0">
                <a:solidFill>
                  <a:srgbClr val="38BDF8"/>
                </a:solidFill>
                <a:latin typeface="Arial Black" pitchFamily="34" charset="0"/>
                <a:ea typeface="Arial Black" pitchFamily="34" charset="-122"/>
                <a:cs typeface="Arial Black" pitchFamily="34" charset="-120"/>
              </a:rPr>
              <a:t>03</a:t>
            </a:r>
            <a:endParaRPr lang="en-US" sz="2200" dirty="0"/>
          </a:p>
        </p:txBody>
      </p:sp>
      <p:sp>
        <p:nvSpPr>
          <p:cNvPr id="20" name="Text 18"/>
          <p:cNvSpPr/>
          <p:nvPr/>
        </p:nvSpPr>
        <p:spPr>
          <a:xfrm>
            <a:off x="1033272" y="2834640"/>
            <a:ext cx="3291840" cy="274320"/>
          </a:xfrm>
          <a:prstGeom prst="rect">
            <a:avLst/>
          </a:prstGeom>
          <a:noFill/>
          <a:ln/>
        </p:spPr>
        <p:txBody>
          <a:bodyPr wrap="square" lIns="0" tIns="0" rIns="0" bIns="0" rtlCol="0" anchor="ctr"/>
          <a:lstStyle/>
          <a:p>
            <a:pPr indent="0" marL="0">
              <a:buNone/>
            </a:pPr>
            <a:r>
              <a:rPr lang="en-US" sz="1300" b="1" dirty="0">
                <a:solidFill>
                  <a:srgbClr val="0F172A"/>
                </a:solidFill>
              </a:rPr>
              <a:t>Lesson 2</a:t>
            </a:r>
            <a:endParaRPr lang="en-US" sz="1300" dirty="0"/>
          </a:p>
        </p:txBody>
      </p:sp>
      <p:sp>
        <p:nvSpPr>
          <p:cNvPr id="21" name="Text 19"/>
          <p:cNvSpPr/>
          <p:nvPr/>
        </p:nvSpPr>
        <p:spPr>
          <a:xfrm>
            <a:off x="1033272" y="3145536"/>
            <a:ext cx="3291840" cy="256032"/>
          </a:xfrm>
          <a:prstGeom prst="rect">
            <a:avLst/>
          </a:prstGeom>
          <a:noFill/>
          <a:ln/>
        </p:spPr>
        <p:txBody>
          <a:bodyPr wrap="square" lIns="0" tIns="0" rIns="0" bIns="0" rtlCol="0" anchor="ctr"/>
          <a:lstStyle/>
          <a:p>
            <a:pPr indent="0" marL="0">
              <a:buNone/>
            </a:pPr>
            <a:r>
              <a:rPr lang="en-US" sz="900" dirty="0">
                <a:solidFill>
                  <a:srgbClr val="94A3B8"/>
                </a:solidFill>
              </a:rPr>
              <a:t>Broken Authentication (JWT Forgery)</a:t>
            </a:r>
            <a:endParaRPr lang="en-US" sz="900" dirty="0"/>
          </a:p>
        </p:txBody>
      </p:sp>
      <p:sp>
        <p:nvSpPr>
          <p:cNvPr id="22" name="Shape 20"/>
          <p:cNvSpPr/>
          <p:nvPr/>
        </p:nvSpPr>
        <p:spPr>
          <a:xfrm>
            <a:off x="320040" y="3657600"/>
            <a:ext cx="4160520" cy="749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320040" y="3657600"/>
            <a:ext cx="50292" cy="749808"/>
          </a:xfrm>
          <a:prstGeom prst="rect">
            <a:avLst/>
          </a:prstGeom>
          <a:solidFill>
            <a:srgbClr val="1E3A8A"/>
          </a:solidFill>
          <a:ln w="12700">
            <a:solidFill>
              <a:srgbClr val="1E3A8A"/>
            </a:solidFill>
            <a:prstDash val="solid"/>
          </a:ln>
        </p:spPr>
      </p:sp>
      <p:sp>
        <p:nvSpPr>
          <p:cNvPr id="24" name="Text 22"/>
          <p:cNvSpPr/>
          <p:nvPr/>
        </p:nvSpPr>
        <p:spPr>
          <a:xfrm>
            <a:off x="484632" y="3730752"/>
            <a:ext cx="502920" cy="585216"/>
          </a:xfrm>
          <a:prstGeom prst="rect">
            <a:avLst/>
          </a:prstGeom>
          <a:noFill/>
          <a:ln/>
        </p:spPr>
        <p:txBody>
          <a:bodyPr wrap="square" lIns="0" tIns="0" rIns="0" bIns="0" rtlCol="0" anchor="ctr"/>
          <a:lstStyle/>
          <a:p>
            <a:pPr indent="0" marL="0">
              <a:buNone/>
            </a:pPr>
            <a:r>
              <a:rPr lang="en-US" sz="2200" b="1" dirty="0">
                <a:solidFill>
                  <a:srgbClr val="38BDF8"/>
                </a:solidFill>
                <a:latin typeface="Arial Black" pitchFamily="34" charset="0"/>
                <a:ea typeface="Arial Black" pitchFamily="34" charset="-122"/>
                <a:cs typeface="Arial Black" pitchFamily="34" charset="-120"/>
              </a:rPr>
              <a:t>04</a:t>
            </a:r>
            <a:endParaRPr lang="en-US" sz="2200" dirty="0"/>
          </a:p>
        </p:txBody>
      </p:sp>
      <p:sp>
        <p:nvSpPr>
          <p:cNvPr id="25" name="Text 23"/>
          <p:cNvSpPr/>
          <p:nvPr/>
        </p:nvSpPr>
        <p:spPr>
          <a:xfrm>
            <a:off x="1033272" y="3749040"/>
            <a:ext cx="3291840" cy="274320"/>
          </a:xfrm>
          <a:prstGeom prst="rect">
            <a:avLst/>
          </a:prstGeom>
          <a:noFill/>
          <a:ln/>
        </p:spPr>
        <p:txBody>
          <a:bodyPr wrap="square" lIns="0" tIns="0" rIns="0" bIns="0" rtlCol="0" anchor="ctr"/>
          <a:lstStyle/>
          <a:p>
            <a:pPr indent="0" marL="0">
              <a:buNone/>
            </a:pPr>
            <a:r>
              <a:rPr lang="en-US" sz="1300" b="1" dirty="0">
                <a:solidFill>
                  <a:srgbClr val="0F172A"/>
                </a:solidFill>
              </a:rPr>
              <a:t>Lessons 3 &amp; 4</a:t>
            </a:r>
            <a:endParaRPr lang="en-US" sz="1300" dirty="0"/>
          </a:p>
        </p:txBody>
      </p:sp>
      <p:sp>
        <p:nvSpPr>
          <p:cNvPr id="26" name="Text 24"/>
          <p:cNvSpPr/>
          <p:nvPr/>
        </p:nvSpPr>
        <p:spPr>
          <a:xfrm>
            <a:off x="1033272" y="4059936"/>
            <a:ext cx="3291840" cy="256032"/>
          </a:xfrm>
          <a:prstGeom prst="rect">
            <a:avLst/>
          </a:prstGeom>
          <a:noFill/>
          <a:ln/>
        </p:spPr>
        <p:txBody>
          <a:bodyPr wrap="square" lIns="0" tIns="0" rIns="0" bIns="0" rtlCol="0" anchor="ctr"/>
          <a:lstStyle/>
          <a:p>
            <a:pPr indent="0" marL="0">
              <a:buNone/>
            </a:pPr>
            <a:r>
              <a:rPr lang="en-US" sz="900" dirty="0">
                <a:solidFill>
                  <a:srgbClr val="94A3B8"/>
                </a:solidFill>
              </a:rPr>
              <a:t>Sensitive Data Disclosure + Insecure Cloud Config</a:t>
            </a:r>
            <a:endParaRPr lang="en-US" sz="900" dirty="0"/>
          </a:p>
        </p:txBody>
      </p:sp>
      <p:sp>
        <p:nvSpPr>
          <p:cNvPr id="27" name="Shape 25"/>
          <p:cNvSpPr/>
          <p:nvPr/>
        </p:nvSpPr>
        <p:spPr>
          <a:xfrm>
            <a:off x="4800600" y="914400"/>
            <a:ext cx="4160520" cy="749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4800600" y="914400"/>
            <a:ext cx="50292" cy="749808"/>
          </a:xfrm>
          <a:prstGeom prst="rect">
            <a:avLst/>
          </a:prstGeom>
          <a:solidFill>
            <a:srgbClr val="1E3A8A"/>
          </a:solidFill>
          <a:ln w="12700">
            <a:solidFill>
              <a:srgbClr val="1E3A8A"/>
            </a:solidFill>
            <a:prstDash val="solid"/>
          </a:ln>
        </p:spPr>
      </p:sp>
      <p:sp>
        <p:nvSpPr>
          <p:cNvPr id="29" name="Text 27"/>
          <p:cNvSpPr/>
          <p:nvPr/>
        </p:nvSpPr>
        <p:spPr>
          <a:xfrm>
            <a:off x="4965192" y="987552"/>
            <a:ext cx="502920" cy="585216"/>
          </a:xfrm>
          <a:prstGeom prst="rect">
            <a:avLst/>
          </a:prstGeom>
          <a:noFill/>
          <a:ln/>
        </p:spPr>
        <p:txBody>
          <a:bodyPr wrap="square" lIns="0" tIns="0" rIns="0" bIns="0" rtlCol="0" anchor="ctr"/>
          <a:lstStyle/>
          <a:p>
            <a:pPr indent="0" marL="0">
              <a:buNone/>
            </a:pPr>
            <a:r>
              <a:rPr lang="en-US" sz="2200" b="1" dirty="0">
                <a:solidFill>
                  <a:srgbClr val="38BDF8"/>
                </a:solidFill>
                <a:latin typeface="Arial Black" pitchFamily="34" charset="0"/>
                <a:ea typeface="Arial Black" pitchFamily="34" charset="-122"/>
                <a:cs typeface="Arial Black" pitchFamily="34" charset="-120"/>
              </a:rPr>
              <a:t>05</a:t>
            </a:r>
            <a:endParaRPr lang="en-US" sz="2200" dirty="0"/>
          </a:p>
        </p:txBody>
      </p:sp>
      <p:sp>
        <p:nvSpPr>
          <p:cNvPr id="30" name="Text 28"/>
          <p:cNvSpPr/>
          <p:nvPr/>
        </p:nvSpPr>
        <p:spPr>
          <a:xfrm>
            <a:off x="5513832" y="1005840"/>
            <a:ext cx="3291840" cy="274320"/>
          </a:xfrm>
          <a:prstGeom prst="rect">
            <a:avLst/>
          </a:prstGeom>
          <a:noFill/>
          <a:ln/>
        </p:spPr>
        <p:txBody>
          <a:bodyPr wrap="square" lIns="0" tIns="0" rIns="0" bIns="0" rtlCol="0" anchor="ctr"/>
          <a:lstStyle/>
          <a:p>
            <a:pPr indent="0" marL="0">
              <a:buNone/>
            </a:pPr>
            <a:r>
              <a:rPr lang="en-US" sz="1300" b="1" dirty="0">
                <a:solidFill>
                  <a:srgbClr val="0F172A"/>
                </a:solidFill>
              </a:rPr>
              <a:t>Lesson 5</a:t>
            </a:r>
            <a:endParaRPr lang="en-US" sz="1300" dirty="0"/>
          </a:p>
        </p:txBody>
      </p:sp>
      <p:sp>
        <p:nvSpPr>
          <p:cNvPr id="31" name="Text 29"/>
          <p:cNvSpPr/>
          <p:nvPr/>
        </p:nvSpPr>
        <p:spPr>
          <a:xfrm>
            <a:off x="5513832" y="1316736"/>
            <a:ext cx="3291840" cy="256032"/>
          </a:xfrm>
          <a:prstGeom prst="rect">
            <a:avLst/>
          </a:prstGeom>
          <a:noFill/>
          <a:ln/>
        </p:spPr>
        <p:txBody>
          <a:bodyPr wrap="square" lIns="0" tIns="0" rIns="0" bIns="0" rtlCol="0" anchor="ctr"/>
          <a:lstStyle/>
          <a:p>
            <a:pPr indent="0" marL="0">
              <a:buNone/>
            </a:pPr>
            <a:r>
              <a:rPr lang="en-US" sz="900" dirty="0">
                <a:solidFill>
                  <a:srgbClr val="94A3B8"/>
                </a:solidFill>
              </a:rPr>
              <a:t>Broken Access Control</a:t>
            </a:r>
            <a:endParaRPr lang="en-US" sz="900" dirty="0"/>
          </a:p>
        </p:txBody>
      </p:sp>
      <p:sp>
        <p:nvSpPr>
          <p:cNvPr id="32" name="Shape 30"/>
          <p:cNvSpPr/>
          <p:nvPr/>
        </p:nvSpPr>
        <p:spPr>
          <a:xfrm>
            <a:off x="4800600" y="1828800"/>
            <a:ext cx="4160520" cy="749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4800600" y="1828800"/>
            <a:ext cx="50292" cy="749808"/>
          </a:xfrm>
          <a:prstGeom prst="rect">
            <a:avLst/>
          </a:prstGeom>
          <a:solidFill>
            <a:srgbClr val="1E3A8A"/>
          </a:solidFill>
          <a:ln w="12700">
            <a:solidFill>
              <a:srgbClr val="1E3A8A"/>
            </a:solidFill>
            <a:prstDash val="solid"/>
          </a:ln>
        </p:spPr>
      </p:sp>
      <p:sp>
        <p:nvSpPr>
          <p:cNvPr id="34" name="Text 32"/>
          <p:cNvSpPr/>
          <p:nvPr/>
        </p:nvSpPr>
        <p:spPr>
          <a:xfrm>
            <a:off x="4965192" y="1901952"/>
            <a:ext cx="502920" cy="585216"/>
          </a:xfrm>
          <a:prstGeom prst="rect">
            <a:avLst/>
          </a:prstGeom>
          <a:noFill/>
          <a:ln/>
        </p:spPr>
        <p:txBody>
          <a:bodyPr wrap="square" lIns="0" tIns="0" rIns="0" bIns="0" rtlCol="0" anchor="ctr"/>
          <a:lstStyle/>
          <a:p>
            <a:pPr indent="0" marL="0">
              <a:buNone/>
            </a:pPr>
            <a:r>
              <a:rPr lang="en-US" sz="2200" b="1" dirty="0">
                <a:solidFill>
                  <a:srgbClr val="38BDF8"/>
                </a:solidFill>
                <a:latin typeface="Arial Black" pitchFamily="34" charset="0"/>
                <a:ea typeface="Arial Black" pitchFamily="34" charset="-122"/>
                <a:cs typeface="Arial Black" pitchFamily="34" charset="-120"/>
              </a:rPr>
              <a:t>06</a:t>
            </a:r>
            <a:endParaRPr lang="en-US" sz="2200" dirty="0"/>
          </a:p>
        </p:txBody>
      </p:sp>
      <p:sp>
        <p:nvSpPr>
          <p:cNvPr id="35" name="Text 33"/>
          <p:cNvSpPr/>
          <p:nvPr/>
        </p:nvSpPr>
        <p:spPr>
          <a:xfrm>
            <a:off x="5513832" y="1920240"/>
            <a:ext cx="3291840" cy="274320"/>
          </a:xfrm>
          <a:prstGeom prst="rect">
            <a:avLst/>
          </a:prstGeom>
          <a:noFill/>
          <a:ln/>
        </p:spPr>
        <p:txBody>
          <a:bodyPr wrap="square" lIns="0" tIns="0" rIns="0" bIns="0" rtlCol="0" anchor="ctr"/>
          <a:lstStyle/>
          <a:p>
            <a:pPr indent="0" marL="0">
              <a:buNone/>
            </a:pPr>
            <a:r>
              <a:rPr lang="en-US" sz="1300" b="1" dirty="0">
                <a:solidFill>
                  <a:srgbClr val="0F172A"/>
                </a:solidFill>
              </a:rPr>
              <a:t>Lessons 6, 7 &amp; 8</a:t>
            </a:r>
            <a:endParaRPr lang="en-US" sz="1300" dirty="0"/>
          </a:p>
        </p:txBody>
      </p:sp>
      <p:sp>
        <p:nvSpPr>
          <p:cNvPr id="36" name="Text 34"/>
          <p:cNvSpPr/>
          <p:nvPr/>
        </p:nvSpPr>
        <p:spPr>
          <a:xfrm>
            <a:off x="5513832" y="2231136"/>
            <a:ext cx="3291840" cy="256032"/>
          </a:xfrm>
          <a:prstGeom prst="rect">
            <a:avLst/>
          </a:prstGeom>
          <a:noFill/>
          <a:ln/>
        </p:spPr>
        <p:txBody>
          <a:bodyPr wrap="square" lIns="0" tIns="0" rIns="0" bIns="0" rtlCol="0" anchor="ctr"/>
          <a:lstStyle/>
          <a:p>
            <a:pPr indent="0" marL="0">
              <a:buNone/>
            </a:pPr>
            <a:r>
              <a:rPr lang="en-US" sz="900" dirty="0">
                <a:solidFill>
                  <a:srgbClr val="94A3B8"/>
                </a:solidFill>
              </a:rPr>
              <a:t>DoS + Over-Privileged Functions + Race Condition</a:t>
            </a:r>
            <a:endParaRPr lang="en-US" sz="900" dirty="0"/>
          </a:p>
        </p:txBody>
      </p:sp>
      <p:sp>
        <p:nvSpPr>
          <p:cNvPr id="37" name="Shape 35"/>
          <p:cNvSpPr/>
          <p:nvPr/>
        </p:nvSpPr>
        <p:spPr>
          <a:xfrm>
            <a:off x="4800600" y="2743200"/>
            <a:ext cx="4160520" cy="749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38" name="Shape 36"/>
          <p:cNvSpPr/>
          <p:nvPr/>
        </p:nvSpPr>
        <p:spPr>
          <a:xfrm>
            <a:off x="4800600" y="2743200"/>
            <a:ext cx="50292" cy="749808"/>
          </a:xfrm>
          <a:prstGeom prst="rect">
            <a:avLst/>
          </a:prstGeom>
          <a:solidFill>
            <a:srgbClr val="1E3A8A"/>
          </a:solidFill>
          <a:ln w="12700">
            <a:solidFill>
              <a:srgbClr val="1E3A8A"/>
            </a:solidFill>
            <a:prstDash val="solid"/>
          </a:ln>
        </p:spPr>
      </p:sp>
      <p:sp>
        <p:nvSpPr>
          <p:cNvPr id="39" name="Text 37"/>
          <p:cNvSpPr/>
          <p:nvPr/>
        </p:nvSpPr>
        <p:spPr>
          <a:xfrm>
            <a:off x="4965192" y="2816352"/>
            <a:ext cx="502920" cy="585216"/>
          </a:xfrm>
          <a:prstGeom prst="rect">
            <a:avLst/>
          </a:prstGeom>
          <a:noFill/>
          <a:ln/>
        </p:spPr>
        <p:txBody>
          <a:bodyPr wrap="square" lIns="0" tIns="0" rIns="0" bIns="0" rtlCol="0" anchor="ctr"/>
          <a:lstStyle/>
          <a:p>
            <a:pPr indent="0" marL="0">
              <a:buNone/>
            </a:pPr>
            <a:r>
              <a:rPr lang="en-US" sz="2200" b="1" dirty="0">
                <a:solidFill>
                  <a:srgbClr val="38BDF8"/>
                </a:solidFill>
                <a:latin typeface="Arial Black" pitchFamily="34" charset="0"/>
                <a:ea typeface="Arial Black" pitchFamily="34" charset="-122"/>
                <a:cs typeface="Arial Black" pitchFamily="34" charset="-120"/>
              </a:rPr>
              <a:t>07</a:t>
            </a:r>
            <a:endParaRPr lang="en-US" sz="2200" dirty="0"/>
          </a:p>
        </p:txBody>
      </p:sp>
      <p:sp>
        <p:nvSpPr>
          <p:cNvPr id="40" name="Text 38"/>
          <p:cNvSpPr/>
          <p:nvPr/>
        </p:nvSpPr>
        <p:spPr>
          <a:xfrm>
            <a:off x="5513832" y="2834640"/>
            <a:ext cx="3291840" cy="274320"/>
          </a:xfrm>
          <a:prstGeom prst="rect">
            <a:avLst/>
          </a:prstGeom>
          <a:noFill/>
          <a:ln/>
        </p:spPr>
        <p:txBody>
          <a:bodyPr wrap="square" lIns="0" tIns="0" rIns="0" bIns="0" rtlCol="0" anchor="ctr"/>
          <a:lstStyle/>
          <a:p>
            <a:pPr indent="0" marL="0">
              <a:buNone/>
            </a:pPr>
            <a:r>
              <a:rPr lang="en-US" sz="1300" b="1" dirty="0">
                <a:solidFill>
                  <a:srgbClr val="0F172A"/>
                </a:solidFill>
              </a:rPr>
              <a:t>Lesson 10</a:t>
            </a:r>
            <a:endParaRPr lang="en-US" sz="1300" dirty="0"/>
          </a:p>
        </p:txBody>
      </p:sp>
      <p:sp>
        <p:nvSpPr>
          <p:cNvPr id="41" name="Text 39"/>
          <p:cNvSpPr/>
          <p:nvPr/>
        </p:nvSpPr>
        <p:spPr>
          <a:xfrm>
            <a:off x="5513832" y="3145536"/>
            <a:ext cx="3291840" cy="256032"/>
          </a:xfrm>
          <a:prstGeom prst="rect">
            <a:avLst/>
          </a:prstGeom>
          <a:noFill/>
          <a:ln/>
        </p:spPr>
        <p:txBody>
          <a:bodyPr wrap="square" lIns="0" tIns="0" rIns="0" bIns="0" rtlCol="0" anchor="ctr"/>
          <a:lstStyle/>
          <a:p>
            <a:pPr indent="0" marL="0">
              <a:buNone/>
            </a:pPr>
            <a:r>
              <a:rPr lang="en-US" sz="900" dirty="0">
                <a:solidFill>
                  <a:srgbClr val="94A3B8"/>
                </a:solidFill>
              </a:rPr>
              <a:t>Unhandled Exceptions</a:t>
            </a:r>
            <a:endParaRPr lang="en-US" sz="900" dirty="0"/>
          </a:p>
        </p:txBody>
      </p:sp>
      <p:sp>
        <p:nvSpPr>
          <p:cNvPr id="42" name="Shape 40"/>
          <p:cNvSpPr/>
          <p:nvPr/>
        </p:nvSpPr>
        <p:spPr>
          <a:xfrm>
            <a:off x="4800600" y="3657600"/>
            <a:ext cx="4160520" cy="749808"/>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43" name="Shape 41"/>
          <p:cNvSpPr/>
          <p:nvPr/>
        </p:nvSpPr>
        <p:spPr>
          <a:xfrm>
            <a:off x="4800600" y="3657600"/>
            <a:ext cx="50292" cy="749808"/>
          </a:xfrm>
          <a:prstGeom prst="rect">
            <a:avLst/>
          </a:prstGeom>
          <a:solidFill>
            <a:srgbClr val="1E3A8A"/>
          </a:solidFill>
          <a:ln w="12700">
            <a:solidFill>
              <a:srgbClr val="1E3A8A"/>
            </a:solidFill>
            <a:prstDash val="solid"/>
          </a:ln>
        </p:spPr>
      </p:sp>
      <p:sp>
        <p:nvSpPr>
          <p:cNvPr id="44" name="Text 42"/>
          <p:cNvSpPr/>
          <p:nvPr/>
        </p:nvSpPr>
        <p:spPr>
          <a:xfrm>
            <a:off x="4965192" y="3730752"/>
            <a:ext cx="502920" cy="585216"/>
          </a:xfrm>
          <a:prstGeom prst="rect">
            <a:avLst/>
          </a:prstGeom>
          <a:noFill/>
          <a:ln/>
        </p:spPr>
        <p:txBody>
          <a:bodyPr wrap="square" lIns="0" tIns="0" rIns="0" bIns="0" rtlCol="0" anchor="ctr"/>
          <a:lstStyle/>
          <a:p>
            <a:pPr indent="0" marL="0">
              <a:buNone/>
            </a:pPr>
            <a:r>
              <a:rPr lang="en-US" sz="2200" b="1" dirty="0">
                <a:solidFill>
                  <a:srgbClr val="38BDF8"/>
                </a:solidFill>
                <a:latin typeface="Arial Black" pitchFamily="34" charset="0"/>
                <a:ea typeface="Arial Black" pitchFamily="34" charset="-122"/>
                <a:cs typeface="Arial Black" pitchFamily="34" charset="-120"/>
              </a:rPr>
              <a:t>08</a:t>
            </a:r>
            <a:endParaRPr lang="en-US" sz="2200" dirty="0"/>
          </a:p>
        </p:txBody>
      </p:sp>
      <p:sp>
        <p:nvSpPr>
          <p:cNvPr id="45" name="Text 43"/>
          <p:cNvSpPr/>
          <p:nvPr/>
        </p:nvSpPr>
        <p:spPr>
          <a:xfrm>
            <a:off x="5513832" y="3749040"/>
            <a:ext cx="3291840" cy="274320"/>
          </a:xfrm>
          <a:prstGeom prst="rect">
            <a:avLst/>
          </a:prstGeom>
          <a:noFill/>
          <a:ln/>
        </p:spPr>
        <p:txBody>
          <a:bodyPr wrap="square" lIns="0" tIns="0" rIns="0" bIns="0" rtlCol="0" anchor="ctr"/>
          <a:lstStyle/>
          <a:p>
            <a:pPr indent="0" marL="0">
              <a:buNone/>
            </a:pPr>
            <a:r>
              <a:rPr lang="en-US" sz="1300" b="1" dirty="0">
                <a:solidFill>
                  <a:srgbClr val="0F172A"/>
                </a:solidFill>
              </a:rPr>
              <a:t>Summary &amp; Takeaways</a:t>
            </a:r>
            <a:endParaRPr lang="en-US" sz="1300" dirty="0"/>
          </a:p>
        </p:txBody>
      </p:sp>
      <p:sp>
        <p:nvSpPr>
          <p:cNvPr id="46" name="Text 44"/>
          <p:cNvSpPr/>
          <p:nvPr/>
        </p:nvSpPr>
        <p:spPr>
          <a:xfrm>
            <a:off x="5513832" y="4059936"/>
            <a:ext cx="3291840" cy="256032"/>
          </a:xfrm>
          <a:prstGeom prst="rect">
            <a:avLst/>
          </a:prstGeom>
          <a:noFill/>
          <a:ln/>
        </p:spPr>
        <p:txBody>
          <a:bodyPr wrap="square" lIns="0" tIns="0" rIns="0" bIns="0" rtlCol="0" anchor="ctr"/>
          <a:lstStyle/>
          <a:p>
            <a:pPr indent="0" marL="0">
              <a:buNone/>
            </a:pPr>
            <a:r>
              <a:rPr lang="en-US" sz="900" dirty="0">
                <a:solidFill>
                  <a:srgbClr val="94A3B8"/>
                </a:solidFill>
              </a:rPr>
              <a:t>Key security lessons learned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8A"/>
          </a:solidFill>
          <a:ln w="12700">
            <a:solidFill>
              <a:srgbClr val="1E3A8A"/>
            </a:solidFill>
            <a:prstDash val="solid"/>
          </a:ln>
        </p:spPr>
      </p:sp>
      <p:sp>
        <p:nvSpPr>
          <p:cNvPr id="3" name="Text 1"/>
          <p:cNvSpPr/>
          <p:nvPr/>
        </p:nvSpPr>
        <p:spPr>
          <a:xfrm>
            <a:off x="411480" y="164592"/>
            <a:ext cx="8229600" cy="502920"/>
          </a:xfrm>
          <a:prstGeom prst="rect">
            <a:avLst/>
          </a:prstGeom>
          <a:noFill/>
          <a:ln/>
        </p:spPr>
        <p:txBody>
          <a:bodyPr wrap="square" rtlCol="0" anchor="ctr"/>
          <a:lstStyle/>
          <a:p>
            <a:pPr indent="0" marL="0">
              <a:buNone/>
            </a:pPr>
            <a:r>
              <a:rPr lang="en-US" sz="2600" b="1" dirty="0">
                <a:solidFill>
                  <a:srgbClr val="0F172A"/>
                </a:solidFill>
                <a:latin typeface="Arial Black" pitchFamily="34" charset="0"/>
                <a:ea typeface="Arial Black" pitchFamily="34" charset="-122"/>
                <a:cs typeface="Arial Black" pitchFamily="34" charset="-120"/>
              </a:rPr>
              <a:t>DVSA — AWS Serverless Architecture</a:t>
            </a:r>
            <a:endParaRPr lang="en-US" sz="2600" dirty="0"/>
          </a:p>
        </p:txBody>
      </p:sp>
      <p:sp>
        <p:nvSpPr>
          <p:cNvPr id="4" name="Shape 2"/>
          <p:cNvSpPr/>
          <p:nvPr/>
        </p:nvSpPr>
        <p:spPr>
          <a:xfrm>
            <a:off x="0" y="4869180"/>
            <a:ext cx="9144000" cy="274320"/>
          </a:xfrm>
          <a:prstGeom prst="rect">
            <a:avLst/>
          </a:prstGeom>
          <a:solidFill>
            <a:srgbClr val="1E293B"/>
          </a:solidFill>
          <a:ln w="12700">
            <a:solidFill>
              <a:srgbClr val="1E293B"/>
            </a:solidFill>
            <a:prstDash val="solid"/>
          </a:ln>
        </p:spPr>
      </p:sp>
      <p:sp>
        <p:nvSpPr>
          <p:cNvPr id="5" name="Text 3"/>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6" name="Text 4"/>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3 / 15</a:t>
            </a:r>
            <a:endParaRPr lang="en-US" sz="700" dirty="0"/>
          </a:p>
        </p:txBody>
      </p:sp>
      <p:sp>
        <p:nvSpPr>
          <p:cNvPr id="7" name="Shape 5"/>
          <p:cNvSpPr/>
          <p:nvPr/>
        </p:nvSpPr>
        <p:spPr>
          <a:xfrm>
            <a:off x="228600" y="1645920"/>
            <a:ext cx="1508760" cy="10058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228600" y="1645920"/>
            <a:ext cx="1508760" cy="1005840"/>
          </a:xfrm>
          <a:prstGeom prst="rect">
            <a:avLst/>
          </a:prstGeom>
          <a:noFill/>
          <a:ln/>
        </p:spPr>
        <p:txBody>
          <a:bodyPr wrap="square" lIns="0" tIns="0" rIns="0" bIns="0" rtlCol="0" anchor="ctr"/>
          <a:lstStyle/>
          <a:p>
            <a:pPr algn="ctr" indent="0" marL="0">
              <a:buNone/>
            </a:pPr>
            <a:r>
              <a:rPr lang="en-US" sz="1100" b="1" dirty="0">
                <a:solidFill>
                  <a:srgbClr val="FFFFFF"/>
                </a:solidFill>
              </a:rPr>
              <a:t>Browser</a:t>
            </a:r>
            <a:endParaRPr lang="en-US" sz="1100" dirty="0"/>
          </a:p>
          <a:p>
            <a:pPr algn="ctr" indent="0" marL="0">
              <a:buNone/>
            </a:pPr>
            <a:r>
              <a:rPr lang="en-US" sz="1100" b="1" dirty="0">
                <a:solidFill>
                  <a:srgbClr val="FFFFFF"/>
                </a:solidFill>
              </a:rPr>
              <a:t>(User)</a:t>
            </a:r>
            <a:endParaRPr lang="en-US" sz="1100" dirty="0"/>
          </a:p>
        </p:txBody>
      </p:sp>
      <p:sp>
        <p:nvSpPr>
          <p:cNvPr id="9" name="Shape 7"/>
          <p:cNvSpPr/>
          <p:nvPr/>
        </p:nvSpPr>
        <p:spPr>
          <a:xfrm>
            <a:off x="1737360" y="2148840"/>
            <a:ext cx="384048" cy="0"/>
          </a:xfrm>
          <a:prstGeom prst="line">
            <a:avLst/>
          </a:prstGeom>
          <a:noFill/>
          <a:ln w="31750">
            <a:solidFill>
              <a:srgbClr val="38BDF8"/>
            </a:solidFill>
            <a:prstDash val="solid"/>
          </a:ln>
        </p:spPr>
      </p:sp>
      <p:sp>
        <p:nvSpPr>
          <p:cNvPr id="10" name="Text 8"/>
          <p:cNvSpPr/>
          <p:nvPr/>
        </p:nvSpPr>
        <p:spPr>
          <a:xfrm>
            <a:off x="1993392" y="2039112"/>
            <a:ext cx="201168" cy="201168"/>
          </a:xfrm>
          <a:prstGeom prst="rect">
            <a:avLst/>
          </a:prstGeom>
          <a:noFill/>
          <a:ln/>
        </p:spPr>
        <p:txBody>
          <a:bodyPr wrap="square" lIns="0" tIns="0" rIns="0" bIns="0" rtlCol="0" anchor="ctr"/>
          <a:lstStyle/>
          <a:p>
            <a:pPr indent="0" marL="0">
              <a:buNone/>
            </a:pPr>
            <a:r>
              <a:rPr lang="en-US" sz="1000" dirty="0">
                <a:solidFill>
                  <a:srgbClr val="38BDF8"/>
                </a:solidFill>
              </a:rPr>
              <a:t>▶</a:t>
            </a:r>
            <a:endParaRPr lang="en-US" sz="1000" dirty="0"/>
          </a:p>
        </p:txBody>
      </p:sp>
      <p:sp>
        <p:nvSpPr>
          <p:cNvPr id="11" name="Shape 9"/>
          <p:cNvSpPr/>
          <p:nvPr/>
        </p:nvSpPr>
        <p:spPr>
          <a:xfrm>
            <a:off x="1920240" y="1645920"/>
            <a:ext cx="1508760" cy="1005840"/>
          </a:xfrm>
          <a:prstGeom prst="rect">
            <a:avLst/>
          </a:prstGeom>
          <a:solidFill>
            <a:srgbClr val="1E3A8A"/>
          </a:solidFill>
          <a:ln w="12700">
            <a:solidFill>
              <a:srgbClr val="1E3A8A"/>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1920240" y="1645920"/>
            <a:ext cx="1508760" cy="1005840"/>
          </a:xfrm>
          <a:prstGeom prst="rect">
            <a:avLst/>
          </a:prstGeom>
          <a:noFill/>
          <a:ln/>
        </p:spPr>
        <p:txBody>
          <a:bodyPr wrap="square" lIns="0" tIns="0" rIns="0" bIns="0" rtlCol="0" anchor="ctr"/>
          <a:lstStyle/>
          <a:p>
            <a:pPr algn="ctr" indent="0" marL="0">
              <a:buNone/>
            </a:pPr>
            <a:r>
              <a:rPr lang="en-US" sz="1100" b="1" dirty="0">
                <a:solidFill>
                  <a:srgbClr val="FFFFFF"/>
                </a:solidFill>
              </a:rPr>
              <a:t>Amazon</a:t>
            </a:r>
            <a:endParaRPr lang="en-US" sz="1100" dirty="0"/>
          </a:p>
          <a:p>
            <a:pPr algn="ctr" indent="0" marL="0">
              <a:buNone/>
            </a:pPr>
            <a:r>
              <a:rPr lang="en-US" sz="1100" b="1" dirty="0">
                <a:solidFill>
                  <a:srgbClr val="FFFFFF"/>
                </a:solidFill>
              </a:rPr>
              <a:t>Cognito</a:t>
            </a:r>
            <a:endParaRPr lang="en-US" sz="1100" dirty="0"/>
          </a:p>
        </p:txBody>
      </p:sp>
      <p:sp>
        <p:nvSpPr>
          <p:cNvPr id="13" name="Shape 11"/>
          <p:cNvSpPr/>
          <p:nvPr/>
        </p:nvSpPr>
        <p:spPr>
          <a:xfrm>
            <a:off x="3429000" y="2148840"/>
            <a:ext cx="384048" cy="0"/>
          </a:xfrm>
          <a:prstGeom prst="line">
            <a:avLst/>
          </a:prstGeom>
          <a:noFill/>
          <a:ln w="31750">
            <a:solidFill>
              <a:srgbClr val="38BDF8"/>
            </a:solidFill>
            <a:prstDash val="solid"/>
          </a:ln>
        </p:spPr>
      </p:sp>
      <p:sp>
        <p:nvSpPr>
          <p:cNvPr id="14" name="Text 12"/>
          <p:cNvSpPr/>
          <p:nvPr/>
        </p:nvSpPr>
        <p:spPr>
          <a:xfrm>
            <a:off x="3685032" y="2039112"/>
            <a:ext cx="201168" cy="201168"/>
          </a:xfrm>
          <a:prstGeom prst="rect">
            <a:avLst/>
          </a:prstGeom>
          <a:noFill/>
          <a:ln/>
        </p:spPr>
        <p:txBody>
          <a:bodyPr wrap="square" lIns="0" tIns="0" rIns="0" bIns="0" rtlCol="0" anchor="ctr"/>
          <a:lstStyle/>
          <a:p>
            <a:pPr indent="0" marL="0">
              <a:buNone/>
            </a:pPr>
            <a:r>
              <a:rPr lang="en-US" sz="1000" dirty="0">
                <a:solidFill>
                  <a:srgbClr val="38BDF8"/>
                </a:solidFill>
              </a:rPr>
              <a:t>▶</a:t>
            </a:r>
            <a:endParaRPr lang="en-US" sz="1000" dirty="0"/>
          </a:p>
        </p:txBody>
      </p:sp>
      <p:sp>
        <p:nvSpPr>
          <p:cNvPr id="15" name="Shape 13"/>
          <p:cNvSpPr/>
          <p:nvPr/>
        </p:nvSpPr>
        <p:spPr>
          <a:xfrm>
            <a:off x="3611880" y="1645920"/>
            <a:ext cx="1508760" cy="1005840"/>
          </a:xfrm>
          <a:prstGeom prst="rect">
            <a:avLst/>
          </a:prstGeom>
          <a:solidFill>
            <a:srgbClr val="1E3A8A"/>
          </a:solidFill>
          <a:ln w="12700">
            <a:solidFill>
              <a:srgbClr val="1E3A8A"/>
            </a:solidFill>
            <a:prstDash val="solid"/>
          </a:ln>
          <a:effectLst>
            <a:outerShdw sx="100000" sy="100000" kx="0" ky="0" algn="bl" rotWithShape="0" blurRad="101600" dist="38100" dir="8100000">
              <a:srgbClr val="000000">
                <a:alpha val="18000"/>
              </a:srgbClr>
            </a:outerShdw>
          </a:effectLst>
        </p:spPr>
      </p:sp>
      <p:sp>
        <p:nvSpPr>
          <p:cNvPr id="16" name="Text 14"/>
          <p:cNvSpPr/>
          <p:nvPr/>
        </p:nvSpPr>
        <p:spPr>
          <a:xfrm>
            <a:off x="3611880" y="1645920"/>
            <a:ext cx="1508760" cy="1005840"/>
          </a:xfrm>
          <a:prstGeom prst="rect">
            <a:avLst/>
          </a:prstGeom>
          <a:noFill/>
          <a:ln/>
        </p:spPr>
        <p:txBody>
          <a:bodyPr wrap="square" lIns="0" tIns="0" rIns="0" bIns="0" rtlCol="0" anchor="ctr"/>
          <a:lstStyle/>
          <a:p>
            <a:pPr algn="ctr" indent="0" marL="0">
              <a:buNone/>
            </a:pPr>
            <a:r>
              <a:rPr lang="en-US" sz="1100" b="1" dirty="0">
                <a:solidFill>
                  <a:srgbClr val="FFFFFF"/>
                </a:solidFill>
              </a:rPr>
              <a:t>API</a:t>
            </a:r>
            <a:endParaRPr lang="en-US" sz="1100" dirty="0"/>
          </a:p>
          <a:p>
            <a:pPr algn="ctr" indent="0" marL="0">
              <a:buNone/>
            </a:pPr>
            <a:r>
              <a:rPr lang="en-US" sz="1100" b="1" dirty="0">
                <a:solidFill>
                  <a:srgbClr val="FFFFFF"/>
                </a:solidFill>
              </a:rPr>
              <a:t>Gateway</a:t>
            </a:r>
            <a:endParaRPr lang="en-US" sz="1100" dirty="0"/>
          </a:p>
        </p:txBody>
      </p:sp>
      <p:sp>
        <p:nvSpPr>
          <p:cNvPr id="17" name="Shape 15"/>
          <p:cNvSpPr/>
          <p:nvPr/>
        </p:nvSpPr>
        <p:spPr>
          <a:xfrm>
            <a:off x="5120640" y="2148840"/>
            <a:ext cx="384048" cy="0"/>
          </a:xfrm>
          <a:prstGeom prst="line">
            <a:avLst/>
          </a:prstGeom>
          <a:noFill/>
          <a:ln w="31750">
            <a:solidFill>
              <a:srgbClr val="38BDF8"/>
            </a:solidFill>
            <a:prstDash val="solid"/>
          </a:ln>
        </p:spPr>
      </p:sp>
      <p:sp>
        <p:nvSpPr>
          <p:cNvPr id="18" name="Text 16"/>
          <p:cNvSpPr/>
          <p:nvPr/>
        </p:nvSpPr>
        <p:spPr>
          <a:xfrm>
            <a:off x="5376672" y="2039112"/>
            <a:ext cx="201168" cy="201168"/>
          </a:xfrm>
          <a:prstGeom prst="rect">
            <a:avLst/>
          </a:prstGeom>
          <a:noFill/>
          <a:ln/>
        </p:spPr>
        <p:txBody>
          <a:bodyPr wrap="square" lIns="0" tIns="0" rIns="0" bIns="0" rtlCol="0" anchor="ctr"/>
          <a:lstStyle/>
          <a:p>
            <a:pPr indent="0" marL="0">
              <a:buNone/>
            </a:pPr>
            <a:r>
              <a:rPr lang="en-US" sz="1000" dirty="0">
                <a:solidFill>
                  <a:srgbClr val="38BDF8"/>
                </a:solidFill>
              </a:rPr>
              <a:t>▶</a:t>
            </a:r>
            <a:endParaRPr lang="en-US" sz="1000" dirty="0"/>
          </a:p>
        </p:txBody>
      </p:sp>
      <p:sp>
        <p:nvSpPr>
          <p:cNvPr id="19" name="Shape 17"/>
          <p:cNvSpPr/>
          <p:nvPr/>
        </p:nvSpPr>
        <p:spPr>
          <a:xfrm>
            <a:off x="5303520" y="1645920"/>
            <a:ext cx="1508760" cy="1005840"/>
          </a:xfrm>
          <a:prstGeom prst="rect">
            <a:avLst/>
          </a:prstGeom>
          <a:solidFill>
            <a:srgbClr val="DC2626"/>
          </a:solidFill>
          <a:ln w="12700">
            <a:solidFill>
              <a:srgbClr val="DC2626"/>
            </a:solidFill>
            <a:prstDash val="solid"/>
          </a:ln>
          <a:effectLst>
            <a:outerShdw sx="100000" sy="100000" kx="0" ky="0" algn="bl" rotWithShape="0" blurRad="101600" dist="38100" dir="8100000">
              <a:srgbClr val="000000">
                <a:alpha val="18000"/>
              </a:srgbClr>
            </a:outerShdw>
          </a:effectLst>
        </p:spPr>
      </p:sp>
      <p:sp>
        <p:nvSpPr>
          <p:cNvPr id="20" name="Text 18"/>
          <p:cNvSpPr/>
          <p:nvPr/>
        </p:nvSpPr>
        <p:spPr>
          <a:xfrm>
            <a:off x="5303520" y="1645920"/>
            <a:ext cx="1508760" cy="1005840"/>
          </a:xfrm>
          <a:prstGeom prst="rect">
            <a:avLst/>
          </a:prstGeom>
          <a:noFill/>
          <a:ln/>
        </p:spPr>
        <p:txBody>
          <a:bodyPr wrap="square" lIns="0" tIns="0" rIns="0" bIns="0" rtlCol="0" anchor="ctr"/>
          <a:lstStyle/>
          <a:p>
            <a:pPr algn="ctr" indent="0" marL="0">
              <a:buNone/>
            </a:pPr>
            <a:r>
              <a:rPr lang="en-US" sz="1100" b="1" dirty="0">
                <a:solidFill>
                  <a:srgbClr val="FFFFFF"/>
                </a:solidFill>
              </a:rPr>
              <a:t>AWS</a:t>
            </a:r>
            <a:endParaRPr lang="en-US" sz="1100" dirty="0"/>
          </a:p>
          <a:p>
            <a:pPr algn="ctr" indent="0" marL="0">
              <a:buNone/>
            </a:pPr>
            <a:r>
              <a:rPr lang="en-US" sz="1100" b="1" dirty="0">
                <a:solidFill>
                  <a:srgbClr val="FFFFFF"/>
                </a:solidFill>
              </a:rPr>
              <a:t>Lambda</a:t>
            </a:r>
            <a:endParaRPr lang="en-US" sz="1100" dirty="0"/>
          </a:p>
        </p:txBody>
      </p:sp>
      <p:sp>
        <p:nvSpPr>
          <p:cNvPr id="21" name="Shape 19"/>
          <p:cNvSpPr/>
          <p:nvPr/>
        </p:nvSpPr>
        <p:spPr>
          <a:xfrm>
            <a:off x="6812280" y="2148840"/>
            <a:ext cx="384048" cy="0"/>
          </a:xfrm>
          <a:prstGeom prst="line">
            <a:avLst/>
          </a:prstGeom>
          <a:noFill/>
          <a:ln w="31750">
            <a:solidFill>
              <a:srgbClr val="38BDF8"/>
            </a:solidFill>
            <a:prstDash val="solid"/>
          </a:ln>
        </p:spPr>
      </p:sp>
      <p:sp>
        <p:nvSpPr>
          <p:cNvPr id="22" name="Text 20"/>
          <p:cNvSpPr/>
          <p:nvPr/>
        </p:nvSpPr>
        <p:spPr>
          <a:xfrm>
            <a:off x="7068312" y="2039112"/>
            <a:ext cx="201168" cy="201168"/>
          </a:xfrm>
          <a:prstGeom prst="rect">
            <a:avLst/>
          </a:prstGeom>
          <a:noFill/>
          <a:ln/>
        </p:spPr>
        <p:txBody>
          <a:bodyPr wrap="square" lIns="0" tIns="0" rIns="0" bIns="0" rtlCol="0" anchor="ctr"/>
          <a:lstStyle/>
          <a:p>
            <a:pPr indent="0" marL="0">
              <a:buNone/>
            </a:pPr>
            <a:r>
              <a:rPr lang="en-US" sz="1000" dirty="0">
                <a:solidFill>
                  <a:srgbClr val="38BDF8"/>
                </a:solidFill>
              </a:rPr>
              <a:t>▶</a:t>
            </a:r>
            <a:endParaRPr lang="en-US" sz="1000" dirty="0"/>
          </a:p>
        </p:txBody>
      </p:sp>
      <p:sp>
        <p:nvSpPr>
          <p:cNvPr id="23" name="Shape 21"/>
          <p:cNvSpPr/>
          <p:nvPr/>
        </p:nvSpPr>
        <p:spPr>
          <a:xfrm>
            <a:off x="6995160" y="1645920"/>
            <a:ext cx="1508760" cy="1005840"/>
          </a:xfrm>
          <a:prstGeom prst="rect">
            <a:avLst/>
          </a:prstGeom>
          <a:solidFill>
            <a:srgbClr val="16A34A"/>
          </a:solidFill>
          <a:ln w="12700">
            <a:solidFill>
              <a:srgbClr val="16A34A"/>
            </a:solidFill>
            <a:prstDash val="solid"/>
          </a:ln>
          <a:effectLst>
            <a:outerShdw sx="100000" sy="100000" kx="0" ky="0" algn="bl" rotWithShape="0" blurRad="101600" dist="38100" dir="8100000">
              <a:srgbClr val="000000">
                <a:alpha val="18000"/>
              </a:srgbClr>
            </a:outerShdw>
          </a:effectLst>
        </p:spPr>
      </p:sp>
      <p:sp>
        <p:nvSpPr>
          <p:cNvPr id="24" name="Text 22"/>
          <p:cNvSpPr/>
          <p:nvPr/>
        </p:nvSpPr>
        <p:spPr>
          <a:xfrm>
            <a:off x="6995160" y="1645920"/>
            <a:ext cx="1508760" cy="1005840"/>
          </a:xfrm>
          <a:prstGeom prst="rect">
            <a:avLst/>
          </a:prstGeom>
          <a:noFill/>
          <a:ln/>
        </p:spPr>
        <p:txBody>
          <a:bodyPr wrap="square" lIns="0" tIns="0" rIns="0" bIns="0" rtlCol="0" anchor="ctr"/>
          <a:lstStyle/>
          <a:p>
            <a:pPr algn="ctr" indent="0" marL="0">
              <a:buNone/>
            </a:pPr>
            <a:r>
              <a:rPr lang="en-US" sz="1100" b="1" dirty="0">
                <a:solidFill>
                  <a:srgbClr val="FFFFFF"/>
                </a:solidFill>
              </a:rPr>
              <a:t>DynamoDB</a:t>
            </a:r>
            <a:endParaRPr lang="en-US" sz="1100" dirty="0"/>
          </a:p>
          <a:p>
            <a:pPr algn="ctr" indent="0" marL="0">
              <a:buNone/>
            </a:pPr>
            <a:r>
              <a:rPr lang="en-US" sz="1100" b="1" dirty="0">
                <a:solidFill>
                  <a:srgbClr val="FFFFFF"/>
                </a:solidFill>
              </a:rPr>
              <a:t>/ S3 / SQS</a:t>
            </a:r>
            <a:endParaRPr lang="en-US" sz="1100" dirty="0"/>
          </a:p>
        </p:txBody>
      </p:sp>
      <p:sp>
        <p:nvSpPr>
          <p:cNvPr id="25" name="Shape 23"/>
          <p:cNvSpPr/>
          <p:nvPr/>
        </p:nvSpPr>
        <p:spPr>
          <a:xfrm>
            <a:off x="3520440" y="2880360"/>
            <a:ext cx="3429000" cy="274320"/>
          </a:xfrm>
          <a:prstGeom prst="rect">
            <a:avLst/>
          </a:prstGeom>
          <a:solidFill>
            <a:srgbClr val="DC2626"/>
          </a:solidFill>
          <a:ln w="12700">
            <a:solidFill>
              <a:srgbClr val="DC2626"/>
            </a:solidFill>
            <a:prstDash val="solid"/>
          </a:ln>
        </p:spPr>
      </p:sp>
      <p:sp>
        <p:nvSpPr>
          <p:cNvPr id="26" name="Text 24"/>
          <p:cNvSpPr/>
          <p:nvPr/>
        </p:nvSpPr>
        <p:spPr>
          <a:xfrm>
            <a:off x="3520440" y="2880360"/>
            <a:ext cx="3429000" cy="274320"/>
          </a:xfrm>
          <a:prstGeom prst="rect">
            <a:avLst/>
          </a:prstGeom>
          <a:noFill/>
          <a:ln/>
        </p:spPr>
        <p:txBody>
          <a:bodyPr wrap="square" lIns="0" tIns="0" rIns="0" bIns="0" rtlCol="0" anchor="ctr"/>
          <a:lstStyle/>
          <a:p>
            <a:pPr algn="ctr" indent="0" marL="0">
              <a:buNone/>
            </a:pPr>
            <a:r>
              <a:rPr lang="en-US" sz="850" b="1" dirty="0">
                <a:solidFill>
                  <a:srgbClr val="FFFFFF"/>
                </a:solidFill>
              </a:rPr>
              <a:t>⚠  ATTACK SURFACE — Vulnerabilities exist at every layer</a:t>
            </a:r>
            <a:endParaRPr lang="en-US" sz="850" dirty="0"/>
          </a:p>
        </p:txBody>
      </p:sp>
      <p:sp>
        <p:nvSpPr>
          <p:cNvPr id="27" name="Shape 25"/>
          <p:cNvSpPr/>
          <p:nvPr/>
        </p:nvSpPr>
        <p:spPr>
          <a:xfrm>
            <a:off x="228600" y="3291840"/>
            <a:ext cx="2788920" cy="7315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8" name="Text 26"/>
          <p:cNvSpPr/>
          <p:nvPr/>
        </p:nvSpPr>
        <p:spPr>
          <a:xfrm>
            <a:off x="365760" y="3364992"/>
            <a:ext cx="2560320" cy="274320"/>
          </a:xfrm>
          <a:prstGeom prst="rect">
            <a:avLst/>
          </a:prstGeom>
          <a:noFill/>
          <a:ln/>
        </p:spPr>
        <p:txBody>
          <a:bodyPr wrap="square" lIns="0" tIns="0" rIns="0" bIns="0" rtlCol="0" anchor="ctr"/>
          <a:lstStyle/>
          <a:p>
            <a:pPr indent="0" marL="0">
              <a:buNone/>
            </a:pPr>
            <a:r>
              <a:rPr lang="en-US" sz="1200" b="1" dirty="0">
                <a:solidFill>
                  <a:srgbClr val="1E3A8A"/>
                </a:solidFill>
              </a:rPr>
              <a:t>Frontend</a:t>
            </a:r>
            <a:endParaRPr lang="en-US" sz="1200" dirty="0"/>
          </a:p>
        </p:txBody>
      </p:sp>
      <p:sp>
        <p:nvSpPr>
          <p:cNvPr id="29" name="Text 27"/>
          <p:cNvSpPr/>
          <p:nvPr/>
        </p:nvSpPr>
        <p:spPr>
          <a:xfrm>
            <a:off x="365760" y="3675888"/>
            <a:ext cx="2560320" cy="256032"/>
          </a:xfrm>
          <a:prstGeom prst="rect">
            <a:avLst/>
          </a:prstGeom>
          <a:noFill/>
          <a:ln/>
        </p:spPr>
        <p:txBody>
          <a:bodyPr wrap="square" lIns="0" tIns="0" rIns="0" bIns="0" rtlCol="0" anchor="ctr"/>
          <a:lstStyle/>
          <a:p>
            <a:pPr indent="0" marL="0">
              <a:buNone/>
            </a:pPr>
            <a:r>
              <a:rPr lang="en-US" sz="950" dirty="0">
                <a:solidFill>
                  <a:srgbClr val="94A3B8"/>
                </a:solidFill>
              </a:rPr>
              <a:t>Static site on S3 / CloudFront</a:t>
            </a:r>
            <a:endParaRPr lang="en-US" sz="950" dirty="0"/>
          </a:p>
        </p:txBody>
      </p:sp>
      <p:sp>
        <p:nvSpPr>
          <p:cNvPr id="30" name="Shape 28"/>
          <p:cNvSpPr/>
          <p:nvPr/>
        </p:nvSpPr>
        <p:spPr>
          <a:xfrm>
            <a:off x="3200400" y="3291840"/>
            <a:ext cx="2788920" cy="7315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31" name="Text 29"/>
          <p:cNvSpPr/>
          <p:nvPr/>
        </p:nvSpPr>
        <p:spPr>
          <a:xfrm>
            <a:off x="3337560" y="3364992"/>
            <a:ext cx="2560320" cy="274320"/>
          </a:xfrm>
          <a:prstGeom prst="rect">
            <a:avLst/>
          </a:prstGeom>
          <a:noFill/>
          <a:ln/>
        </p:spPr>
        <p:txBody>
          <a:bodyPr wrap="square" lIns="0" tIns="0" rIns="0" bIns="0" rtlCol="0" anchor="ctr"/>
          <a:lstStyle/>
          <a:p>
            <a:pPr indent="0" marL="0">
              <a:buNone/>
            </a:pPr>
            <a:r>
              <a:rPr lang="en-US" sz="1200" b="1" dirty="0">
                <a:solidFill>
                  <a:srgbClr val="1E3A8A"/>
                </a:solidFill>
              </a:rPr>
              <a:t>Backend</a:t>
            </a:r>
            <a:endParaRPr lang="en-US" sz="1200" dirty="0"/>
          </a:p>
        </p:txBody>
      </p:sp>
      <p:sp>
        <p:nvSpPr>
          <p:cNvPr id="32" name="Text 30"/>
          <p:cNvSpPr/>
          <p:nvPr/>
        </p:nvSpPr>
        <p:spPr>
          <a:xfrm>
            <a:off x="3337560" y="3675888"/>
            <a:ext cx="2560320" cy="256032"/>
          </a:xfrm>
          <a:prstGeom prst="rect">
            <a:avLst/>
          </a:prstGeom>
          <a:noFill/>
          <a:ln/>
        </p:spPr>
        <p:txBody>
          <a:bodyPr wrap="square" lIns="0" tIns="0" rIns="0" bIns="0" rtlCol="0" anchor="ctr"/>
          <a:lstStyle/>
          <a:p>
            <a:pPr indent="0" marL="0">
              <a:buNone/>
            </a:pPr>
            <a:r>
              <a:rPr lang="en-US" sz="950" dirty="0">
                <a:solidFill>
                  <a:srgbClr val="94A3B8"/>
                </a:solidFill>
              </a:rPr>
              <a:t>API Gateway + Lambda functions</a:t>
            </a:r>
            <a:endParaRPr lang="en-US" sz="950" dirty="0"/>
          </a:p>
        </p:txBody>
      </p:sp>
      <p:sp>
        <p:nvSpPr>
          <p:cNvPr id="33" name="Shape 31"/>
          <p:cNvSpPr/>
          <p:nvPr/>
        </p:nvSpPr>
        <p:spPr>
          <a:xfrm>
            <a:off x="6172200" y="3291840"/>
            <a:ext cx="2788920" cy="7315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34" name="Text 32"/>
          <p:cNvSpPr/>
          <p:nvPr/>
        </p:nvSpPr>
        <p:spPr>
          <a:xfrm>
            <a:off x="6309360" y="3364992"/>
            <a:ext cx="2560320" cy="274320"/>
          </a:xfrm>
          <a:prstGeom prst="rect">
            <a:avLst/>
          </a:prstGeom>
          <a:noFill/>
          <a:ln/>
        </p:spPr>
        <p:txBody>
          <a:bodyPr wrap="square" lIns="0" tIns="0" rIns="0" bIns="0" rtlCol="0" anchor="ctr"/>
          <a:lstStyle/>
          <a:p>
            <a:pPr indent="0" marL="0">
              <a:buNone/>
            </a:pPr>
            <a:r>
              <a:rPr lang="en-US" sz="1200" b="1" dirty="0">
                <a:solidFill>
                  <a:srgbClr val="1E3A8A"/>
                </a:solidFill>
              </a:rPr>
              <a:t>Data</a:t>
            </a:r>
            <a:endParaRPr lang="en-US" sz="1200" dirty="0"/>
          </a:p>
        </p:txBody>
      </p:sp>
      <p:sp>
        <p:nvSpPr>
          <p:cNvPr id="35" name="Text 33"/>
          <p:cNvSpPr/>
          <p:nvPr/>
        </p:nvSpPr>
        <p:spPr>
          <a:xfrm>
            <a:off x="6309360" y="3675888"/>
            <a:ext cx="2560320" cy="256032"/>
          </a:xfrm>
          <a:prstGeom prst="rect">
            <a:avLst/>
          </a:prstGeom>
          <a:noFill/>
          <a:ln/>
        </p:spPr>
        <p:txBody>
          <a:bodyPr wrap="square" lIns="0" tIns="0" rIns="0" bIns="0" rtlCol="0" anchor="ctr"/>
          <a:lstStyle/>
          <a:p>
            <a:pPr indent="0" marL="0">
              <a:buNone/>
            </a:pPr>
            <a:r>
              <a:rPr lang="en-US" sz="950" dirty="0">
                <a:solidFill>
                  <a:srgbClr val="94A3B8"/>
                </a:solidFill>
              </a:rPr>
              <a:t>DynamoDB · S3 Buckets · SQS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DC2626"/>
          </a:solidFill>
          <a:ln w="12700">
            <a:solidFill>
              <a:srgbClr val="DC2626"/>
            </a:solidFill>
            <a:prstDash val="solid"/>
          </a:ln>
        </p:spPr>
      </p:sp>
      <p:sp>
        <p:nvSpPr>
          <p:cNvPr id="3" name="Shape 1"/>
          <p:cNvSpPr/>
          <p:nvPr/>
        </p:nvSpPr>
        <p:spPr>
          <a:xfrm>
            <a:off x="365760" y="640080"/>
            <a:ext cx="1554480" cy="256032"/>
          </a:xfrm>
          <a:prstGeom prst="roundRect">
            <a:avLst>
              <a:gd name="adj" fmla="val 50000"/>
            </a:avLst>
          </a:prstGeom>
          <a:solidFill>
            <a:srgbClr val="38BDF8"/>
          </a:solidFill>
          <a:ln w="12700">
            <a:solidFill>
              <a:srgbClr val="38BDF8"/>
            </a:solidFill>
            <a:prstDash val="solid"/>
          </a:ln>
        </p:spPr>
      </p:sp>
      <p:sp>
        <p:nvSpPr>
          <p:cNvPr id="4" name="Text 2"/>
          <p:cNvSpPr/>
          <p:nvPr/>
        </p:nvSpPr>
        <p:spPr>
          <a:xfrm>
            <a:off x="365760" y="640080"/>
            <a:ext cx="1554480" cy="256032"/>
          </a:xfrm>
          <a:prstGeom prst="rect">
            <a:avLst/>
          </a:prstGeom>
          <a:noFill/>
          <a:ln/>
        </p:spPr>
        <p:txBody>
          <a:bodyPr wrap="square" lIns="0" tIns="0" rIns="0" bIns="0" rtlCol="0" anchor="ctr"/>
          <a:lstStyle/>
          <a:p>
            <a:pPr algn="ctr" indent="0" marL="0">
              <a:buNone/>
            </a:pPr>
            <a:r>
              <a:rPr lang="en-US" sz="800" b="1" dirty="0">
                <a:solidFill>
                  <a:srgbClr val="0F172A"/>
                </a:solidFill>
              </a:rPr>
              <a:t>LESSONS 1 + 9</a:t>
            </a:r>
            <a:endParaRPr lang="en-US" sz="800" dirty="0"/>
          </a:p>
        </p:txBody>
      </p:sp>
      <p:sp>
        <p:nvSpPr>
          <p:cNvPr id="5" name="Text 3"/>
          <p:cNvSpPr/>
          <p:nvPr/>
        </p:nvSpPr>
        <p:spPr>
          <a:xfrm>
            <a:off x="365760" y="1005840"/>
            <a:ext cx="5943600" cy="1645920"/>
          </a:xfrm>
          <a:prstGeom prst="rect">
            <a:avLst/>
          </a:prstGeom>
          <a:noFill/>
          <a:ln/>
        </p:spPr>
        <p:txBody>
          <a:bodyPr wrap="square"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Event Injection &amp;</a:t>
            </a:r>
            <a:endParaRPr lang="en-US" sz="3800" dirty="0"/>
          </a:p>
          <a:p>
            <a:pPr indent="0" marL="0">
              <a:buNone/>
            </a:pPr>
            <a:r>
              <a:rPr lang="en-US" sz="3800" b="1" dirty="0">
                <a:solidFill>
                  <a:srgbClr val="FFFFFF"/>
                </a:solidFill>
                <a:latin typeface="Arial Black" pitchFamily="34" charset="0"/>
                <a:ea typeface="Arial Black" pitchFamily="34" charset="-122"/>
                <a:cs typeface="Arial Black" pitchFamily="34" charset="-120"/>
              </a:rPr>
              <a:t>Vulnerable Dependencies</a:t>
            </a:r>
            <a:endParaRPr lang="en-US" sz="3800" dirty="0"/>
          </a:p>
        </p:txBody>
      </p:sp>
      <p:sp>
        <p:nvSpPr>
          <p:cNvPr id="6" name="Text 4"/>
          <p:cNvSpPr/>
          <p:nvPr/>
        </p:nvSpPr>
        <p:spPr>
          <a:xfrm>
            <a:off x="365760" y="2743200"/>
            <a:ext cx="5943600" cy="822960"/>
          </a:xfrm>
          <a:prstGeom prst="rect">
            <a:avLst/>
          </a:prstGeom>
          <a:noFill/>
          <a:ln/>
        </p:spPr>
        <p:txBody>
          <a:bodyPr wrap="square" rtlCol="0" anchor="ctr"/>
          <a:lstStyle/>
          <a:p>
            <a:pPr indent="0" marL="0">
              <a:buNone/>
            </a:pPr>
            <a:r>
              <a:rPr lang="en-US" sz="1300" dirty="0">
                <a:solidFill>
                  <a:srgbClr val="94A3B8"/>
                </a:solidFill>
              </a:rPr>
              <a:t>Root vector: node-serialize library enables Remote Code Execution via attacker-controlled JSON payloads sent through API Gateway.</a:t>
            </a:r>
            <a:endParaRPr lang="en-US" sz="1300" dirty="0"/>
          </a:p>
        </p:txBody>
      </p:sp>
      <p:sp>
        <p:nvSpPr>
          <p:cNvPr id="7" name="Shape 5"/>
          <p:cNvSpPr/>
          <p:nvPr/>
        </p:nvSpPr>
        <p:spPr>
          <a:xfrm>
            <a:off x="6400800" y="1097280"/>
            <a:ext cx="2468880" cy="10058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6446520" y="1143000"/>
            <a:ext cx="1005840" cy="868680"/>
          </a:xfrm>
          <a:prstGeom prst="rect">
            <a:avLst/>
          </a:prstGeom>
          <a:noFill/>
          <a:ln/>
        </p:spPr>
        <p:txBody>
          <a:bodyPr wrap="square" lIns="0" tIns="0" rIns="0" bIns="0" rtlCol="0" anchor="ctr"/>
          <a:lstStyle/>
          <a:p>
            <a:pPr indent="0" marL="0">
              <a:buNone/>
            </a:pPr>
            <a:r>
              <a:rPr lang="en-US" sz="2800" b="1" dirty="0">
                <a:solidFill>
                  <a:srgbClr val="DC2626"/>
                </a:solidFill>
                <a:latin typeface="Arial Black" pitchFamily="34" charset="0"/>
                <a:ea typeface="Arial Black" pitchFamily="34" charset="-122"/>
                <a:cs typeface="Arial Black" pitchFamily="34" charset="-120"/>
              </a:rPr>
              <a:t>RCE</a:t>
            </a:r>
            <a:endParaRPr lang="en-US" sz="2800" dirty="0"/>
          </a:p>
        </p:txBody>
      </p:sp>
      <p:sp>
        <p:nvSpPr>
          <p:cNvPr id="9" name="Text 7"/>
          <p:cNvSpPr/>
          <p:nvPr/>
        </p:nvSpPr>
        <p:spPr>
          <a:xfrm>
            <a:off x="7498080" y="1188720"/>
            <a:ext cx="1280160" cy="731520"/>
          </a:xfrm>
          <a:prstGeom prst="rect">
            <a:avLst/>
          </a:prstGeom>
          <a:noFill/>
          <a:ln/>
        </p:spPr>
        <p:txBody>
          <a:bodyPr wrap="square" lIns="0" tIns="0" rIns="0" bIns="0" rtlCol="0" anchor="ctr"/>
          <a:lstStyle/>
          <a:p>
            <a:pPr indent="0" marL="0">
              <a:buNone/>
            </a:pPr>
            <a:r>
              <a:rPr lang="en-US" sz="1000" dirty="0">
                <a:solidFill>
                  <a:srgbClr val="94A3B8"/>
                </a:solidFill>
              </a:rPr>
              <a:t>Remote Code</a:t>
            </a:r>
            <a:endParaRPr lang="en-US" sz="1000" dirty="0"/>
          </a:p>
          <a:p>
            <a:pPr indent="0" marL="0">
              <a:buNone/>
            </a:pPr>
            <a:r>
              <a:rPr lang="en-US" sz="1000" dirty="0">
                <a:solidFill>
                  <a:srgbClr val="94A3B8"/>
                </a:solidFill>
              </a:rPr>
              <a:t>Execution</a:t>
            </a:r>
            <a:endParaRPr lang="en-US" sz="1000" dirty="0"/>
          </a:p>
        </p:txBody>
      </p:sp>
      <p:sp>
        <p:nvSpPr>
          <p:cNvPr id="10" name="Shape 8"/>
          <p:cNvSpPr/>
          <p:nvPr/>
        </p:nvSpPr>
        <p:spPr>
          <a:xfrm>
            <a:off x="6400800" y="2286000"/>
            <a:ext cx="2468880" cy="10058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6446520" y="2331720"/>
            <a:ext cx="1005840" cy="868680"/>
          </a:xfrm>
          <a:prstGeom prst="rect">
            <a:avLst/>
          </a:prstGeom>
          <a:noFill/>
          <a:ln/>
        </p:spPr>
        <p:txBody>
          <a:bodyPr wrap="square" lIns="0" tIns="0" rIns="0" bIns="0" rtlCol="0" anchor="ctr"/>
          <a:lstStyle/>
          <a:p>
            <a:pPr indent="0" marL="0">
              <a:buNone/>
            </a:pPr>
            <a:r>
              <a:rPr lang="en-US" sz="2800" b="1" dirty="0">
                <a:solidFill>
                  <a:srgbClr val="DC2626"/>
                </a:solidFill>
                <a:latin typeface="Arial Black" pitchFamily="34" charset="0"/>
                <a:ea typeface="Arial Black" pitchFamily="34" charset="-122"/>
                <a:cs typeface="Arial Black" pitchFamily="34" charset="-120"/>
              </a:rPr>
              <a:t>0</a:t>
            </a:r>
            <a:endParaRPr lang="en-US" sz="2800" dirty="0"/>
          </a:p>
        </p:txBody>
      </p:sp>
      <p:sp>
        <p:nvSpPr>
          <p:cNvPr id="12" name="Text 10"/>
          <p:cNvSpPr/>
          <p:nvPr/>
        </p:nvSpPr>
        <p:spPr>
          <a:xfrm>
            <a:off x="7498080" y="2377440"/>
            <a:ext cx="1280160" cy="731520"/>
          </a:xfrm>
          <a:prstGeom prst="rect">
            <a:avLst/>
          </a:prstGeom>
          <a:noFill/>
          <a:ln/>
        </p:spPr>
        <p:txBody>
          <a:bodyPr wrap="square" lIns="0" tIns="0" rIns="0" bIns="0" rtlCol="0" anchor="ctr"/>
          <a:lstStyle/>
          <a:p>
            <a:pPr indent="0" marL="0">
              <a:buNone/>
            </a:pPr>
            <a:r>
              <a:rPr lang="en-US" sz="1000" dirty="0">
                <a:solidFill>
                  <a:srgbClr val="94A3B8"/>
                </a:solidFill>
              </a:rPr>
              <a:t>Auth</a:t>
            </a:r>
            <a:endParaRPr lang="en-US" sz="1000" dirty="0"/>
          </a:p>
          <a:p>
            <a:pPr indent="0" marL="0">
              <a:buNone/>
            </a:pPr>
            <a:r>
              <a:rPr lang="en-US" sz="1000" dirty="0">
                <a:solidFill>
                  <a:srgbClr val="94A3B8"/>
                </a:solidFill>
              </a:rPr>
              <a:t>Required</a:t>
            </a:r>
            <a:endParaRPr lang="en-US" sz="1000" dirty="0"/>
          </a:p>
        </p:txBody>
      </p:sp>
      <p:sp>
        <p:nvSpPr>
          <p:cNvPr id="13" name="Shape 11"/>
          <p:cNvSpPr/>
          <p:nvPr/>
        </p:nvSpPr>
        <p:spPr>
          <a:xfrm>
            <a:off x="6400800" y="3474720"/>
            <a:ext cx="2468880" cy="10058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6446520" y="3520440"/>
            <a:ext cx="1005840" cy="868680"/>
          </a:xfrm>
          <a:prstGeom prst="rect">
            <a:avLst/>
          </a:prstGeom>
          <a:noFill/>
          <a:ln/>
        </p:spPr>
        <p:txBody>
          <a:bodyPr wrap="square" lIns="0" tIns="0" rIns="0" bIns="0" rtlCol="0" anchor="ctr"/>
          <a:lstStyle/>
          <a:p>
            <a:pPr indent="0" marL="0">
              <a:buNone/>
            </a:pPr>
            <a:r>
              <a:rPr lang="en-US" sz="2800" b="1" dirty="0">
                <a:solidFill>
                  <a:srgbClr val="DC2626"/>
                </a:solidFill>
                <a:latin typeface="Arial Black" pitchFamily="34" charset="0"/>
                <a:ea typeface="Arial Black" pitchFamily="34" charset="-122"/>
                <a:cs typeface="Arial Black" pitchFamily="34" charset="-120"/>
              </a:rPr>
              <a:t>CVE</a:t>
            </a:r>
            <a:endParaRPr lang="en-US" sz="2800" dirty="0"/>
          </a:p>
        </p:txBody>
      </p:sp>
      <p:sp>
        <p:nvSpPr>
          <p:cNvPr id="15" name="Text 13"/>
          <p:cNvSpPr/>
          <p:nvPr/>
        </p:nvSpPr>
        <p:spPr>
          <a:xfrm>
            <a:off x="7498080" y="3566160"/>
            <a:ext cx="1280160" cy="731520"/>
          </a:xfrm>
          <a:prstGeom prst="rect">
            <a:avLst/>
          </a:prstGeom>
          <a:noFill/>
          <a:ln/>
        </p:spPr>
        <p:txBody>
          <a:bodyPr wrap="square" lIns="0" tIns="0" rIns="0" bIns="0" rtlCol="0" anchor="ctr"/>
          <a:lstStyle/>
          <a:p>
            <a:pPr indent="0" marL="0">
              <a:buNone/>
            </a:pPr>
            <a:r>
              <a:rPr lang="en-US" sz="1000" dirty="0">
                <a:solidFill>
                  <a:srgbClr val="94A3B8"/>
                </a:solidFill>
              </a:rPr>
              <a:t>Vulnerable</a:t>
            </a:r>
            <a:endParaRPr lang="en-US" sz="1000" dirty="0"/>
          </a:p>
          <a:p>
            <a:pPr indent="0" marL="0">
              <a:buNone/>
            </a:pPr>
            <a:r>
              <a:rPr lang="en-US" sz="1000" dirty="0">
                <a:solidFill>
                  <a:srgbClr val="94A3B8"/>
                </a:solidFill>
              </a:rPr>
              <a:t>Dependency</a:t>
            </a:r>
            <a:endParaRPr lang="en-US" sz="1000" dirty="0"/>
          </a:p>
        </p:txBody>
      </p:sp>
      <p:sp>
        <p:nvSpPr>
          <p:cNvPr id="16" name="Shape 14"/>
          <p:cNvSpPr/>
          <p:nvPr/>
        </p:nvSpPr>
        <p:spPr>
          <a:xfrm>
            <a:off x="0" y="4869180"/>
            <a:ext cx="9144000" cy="274320"/>
          </a:xfrm>
          <a:prstGeom prst="rect">
            <a:avLst/>
          </a:prstGeom>
          <a:solidFill>
            <a:srgbClr val="1E293B"/>
          </a:solidFill>
          <a:ln w="12700">
            <a:solidFill>
              <a:srgbClr val="1E293B"/>
            </a:solidFill>
            <a:prstDash val="solid"/>
          </a:ln>
        </p:spPr>
      </p:sp>
      <p:sp>
        <p:nvSpPr>
          <p:cNvPr id="17" name="Text 15"/>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18" name="Text 16"/>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4 / 15</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C2626"/>
          </a:solidFill>
          <a:ln w="12700">
            <a:solidFill>
              <a:srgbClr val="DC2626"/>
            </a:solidFill>
            <a:prstDash val="solid"/>
          </a:ln>
        </p:spPr>
      </p:sp>
      <p:sp>
        <p:nvSpPr>
          <p:cNvPr id="3" name="Shape 1"/>
          <p:cNvSpPr/>
          <p:nvPr/>
        </p:nvSpPr>
        <p:spPr>
          <a:xfrm>
            <a:off x="0" y="54864"/>
            <a:ext cx="9144000" cy="658368"/>
          </a:xfrm>
          <a:prstGeom prst="rect">
            <a:avLst/>
          </a:prstGeom>
          <a:solidFill>
            <a:srgbClr val="DC2626"/>
          </a:solidFill>
          <a:ln w="12700">
            <a:solidFill>
              <a:srgbClr val="DC2626"/>
            </a:solidFill>
            <a:prstDash val="solid"/>
          </a:ln>
        </p:spPr>
      </p:sp>
      <p:sp>
        <p:nvSpPr>
          <p:cNvPr id="4" name="Text 2"/>
          <p:cNvSpPr/>
          <p:nvPr/>
        </p:nvSpPr>
        <p:spPr>
          <a:xfrm>
            <a:off x="320040" y="91440"/>
            <a:ext cx="1645920" cy="228600"/>
          </a:xfrm>
          <a:prstGeom prst="rect">
            <a:avLst/>
          </a:prstGeom>
          <a:noFill/>
          <a:ln/>
        </p:spPr>
        <p:txBody>
          <a:bodyPr wrap="square" lIns="0" tIns="0" rIns="0" bIns="0" rtlCol="0" anchor="ctr"/>
          <a:lstStyle/>
          <a:p>
            <a:pPr indent="0" marL="0">
              <a:buNone/>
            </a:pPr>
            <a:r>
              <a:rPr lang="en-US" sz="1000" b="1" dirty="0">
                <a:solidFill>
                  <a:srgbClr val="FFFFFF"/>
                </a:solidFill>
              </a:rPr>
              <a:t>Lesson #1 &amp; 9</a:t>
            </a:r>
            <a:endParaRPr lang="en-US" sz="1000" dirty="0"/>
          </a:p>
        </p:txBody>
      </p:sp>
      <p:sp>
        <p:nvSpPr>
          <p:cNvPr id="5" name="Text 3"/>
          <p:cNvSpPr/>
          <p:nvPr/>
        </p:nvSpPr>
        <p:spPr>
          <a:xfrm>
            <a:off x="320040" y="292608"/>
            <a:ext cx="7132320" cy="36576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Event Injection + Vulnerable Dependencies</a:t>
            </a:r>
            <a:endParaRPr lang="en-US" sz="2200" dirty="0"/>
          </a:p>
        </p:txBody>
      </p:sp>
      <p:sp>
        <p:nvSpPr>
          <p:cNvPr id="6" name="Shape 4"/>
          <p:cNvSpPr/>
          <p:nvPr/>
        </p:nvSpPr>
        <p:spPr>
          <a:xfrm>
            <a:off x="7406640" y="201168"/>
            <a:ext cx="1508760" cy="310896"/>
          </a:xfrm>
          <a:prstGeom prst="rect">
            <a:avLst/>
          </a:prstGeom>
          <a:solidFill>
            <a:srgbClr val="0F172A"/>
          </a:solidFill>
          <a:ln w="12700">
            <a:solidFill>
              <a:srgbClr val="0F172A"/>
            </a:solidFill>
            <a:prstDash val="solid"/>
          </a:ln>
        </p:spPr>
      </p:sp>
      <p:sp>
        <p:nvSpPr>
          <p:cNvPr id="7" name="Text 5"/>
          <p:cNvSpPr/>
          <p:nvPr/>
        </p:nvSpPr>
        <p:spPr>
          <a:xfrm>
            <a:off x="7406640" y="201168"/>
            <a:ext cx="1508760" cy="310896"/>
          </a:xfrm>
          <a:prstGeom prst="rect">
            <a:avLst/>
          </a:prstGeom>
          <a:noFill/>
          <a:ln/>
        </p:spPr>
        <p:txBody>
          <a:bodyPr wrap="square" lIns="0" tIns="0" rIns="0" bIns="0" rtlCol="0" anchor="ctr"/>
          <a:lstStyle/>
          <a:p>
            <a:pPr algn="ctr" indent="0" marL="0">
              <a:buNone/>
            </a:pPr>
            <a:r>
              <a:rPr lang="en-US" sz="800" b="1" dirty="0">
                <a:solidFill>
                  <a:srgbClr val="38BDF8"/>
                </a:solidFill>
              </a:rPr>
              <a:t>Lambda / node-serialize</a:t>
            </a:r>
            <a:endParaRPr lang="en-US" sz="800" dirty="0"/>
          </a:p>
        </p:txBody>
      </p:sp>
      <p:sp>
        <p:nvSpPr>
          <p:cNvPr id="8" name="Shape 6"/>
          <p:cNvSpPr/>
          <p:nvPr/>
        </p:nvSpPr>
        <p:spPr>
          <a:xfrm>
            <a:off x="0" y="4869180"/>
            <a:ext cx="9144000" cy="274320"/>
          </a:xfrm>
          <a:prstGeom prst="rect">
            <a:avLst/>
          </a:prstGeom>
          <a:solidFill>
            <a:srgbClr val="1E293B"/>
          </a:solidFill>
          <a:ln w="12700">
            <a:solidFill>
              <a:srgbClr val="1E293B"/>
            </a:solidFill>
            <a:prstDash val="solid"/>
          </a:ln>
        </p:spPr>
      </p:sp>
      <p:sp>
        <p:nvSpPr>
          <p:cNvPr id="9" name="Text 7"/>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10" name="Text 8"/>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5 / 15</a:t>
            </a:r>
            <a:endParaRPr lang="en-US" sz="700" dirty="0"/>
          </a:p>
        </p:txBody>
      </p:sp>
      <p:sp>
        <p:nvSpPr>
          <p:cNvPr id="11" name="Shape 9"/>
          <p:cNvSpPr/>
          <p:nvPr/>
        </p:nvSpPr>
        <p:spPr>
          <a:xfrm>
            <a:off x="228600" y="914400"/>
            <a:ext cx="4160520" cy="14173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228600" y="914400"/>
            <a:ext cx="50292" cy="1417320"/>
          </a:xfrm>
          <a:prstGeom prst="rect">
            <a:avLst/>
          </a:prstGeom>
          <a:solidFill>
            <a:srgbClr val="DC2626"/>
          </a:solidFill>
          <a:ln w="12700">
            <a:solidFill>
              <a:srgbClr val="DC2626"/>
            </a:solidFill>
            <a:prstDash val="solid"/>
          </a:ln>
        </p:spPr>
      </p:sp>
      <p:sp>
        <p:nvSpPr>
          <p:cNvPr id="13" name="Text 11"/>
          <p:cNvSpPr/>
          <p:nvPr/>
        </p:nvSpPr>
        <p:spPr>
          <a:xfrm>
            <a:off x="411480" y="960120"/>
            <a:ext cx="3840480" cy="274320"/>
          </a:xfrm>
          <a:prstGeom prst="rect">
            <a:avLst/>
          </a:prstGeom>
          <a:noFill/>
          <a:ln/>
        </p:spPr>
        <p:txBody>
          <a:bodyPr wrap="square" lIns="0" tIns="0" rIns="0" bIns="0" rtlCol="0" anchor="ctr"/>
          <a:lstStyle/>
          <a:p>
            <a:pPr indent="0" marL="0">
              <a:buNone/>
            </a:pPr>
            <a:r>
              <a:rPr lang="en-US" sz="1100" b="1" dirty="0">
                <a:solidFill>
                  <a:srgbClr val="DC2626"/>
                </a:solidFill>
              </a:rPr>
              <a:t>🔍  How It Works</a:t>
            </a:r>
            <a:endParaRPr lang="en-US" sz="1100" dirty="0"/>
          </a:p>
        </p:txBody>
      </p:sp>
      <p:sp>
        <p:nvSpPr>
          <p:cNvPr id="14" name="Text 12"/>
          <p:cNvSpPr/>
          <p:nvPr/>
        </p:nvSpPr>
        <p:spPr>
          <a:xfrm>
            <a:off x="411480" y="1234440"/>
            <a:ext cx="3840480" cy="1005840"/>
          </a:xfrm>
          <a:prstGeom prst="rect">
            <a:avLst/>
          </a:prstGeom>
          <a:noFill/>
          <a:ln/>
        </p:spPr>
        <p:txBody>
          <a:bodyPr wrap="square" lIns="0" tIns="0" rIns="0" bIns="0" rtlCol="0" anchor="ctr"/>
          <a:lstStyle/>
          <a:p>
            <a:pPr indent="0" marL="0">
              <a:buNone/>
            </a:pPr>
            <a:r>
              <a:rPr lang="en-US" sz="950" dirty="0">
                <a:solidFill>
                  <a:srgbClr val="1E293B"/>
                </a:solidFill>
              </a:rPr>
              <a:t>The DVSA-ORDER-MANAGER Lambda uses node-serialize v0.0.4 to parse the HTTP request body. This library evaluates embedded JavaScript functions when it encounters the special _$$ND_FUNC$$_ prefix in JSON input — effectively calling eval() on attacker-supplied data before any authentication occurs.</a:t>
            </a:r>
            <a:endParaRPr lang="en-US" sz="950" dirty="0"/>
          </a:p>
        </p:txBody>
      </p:sp>
      <p:sp>
        <p:nvSpPr>
          <p:cNvPr id="15" name="Shape 13"/>
          <p:cNvSpPr/>
          <p:nvPr/>
        </p:nvSpPr>
        <p:spPr>
          <a:xfrm>
            <a:off x="228600" y="2450592"/>
            <a:ext cx="4160520" cy="11704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228600" y="2450592"/>
            <a:ext cx="50292" cy="1170432"/>
          </a:xfrm>
          <a:prstGeom prst="rect">
            <a:avLst/>
          </a:prstGeom>
          <a:solidFill>
            <a:srgbClr val="DC2626"/>
          </a:solidFill>
          <a:ln w="12700">
            <a:solidFill>
              <a:srgbClr val="DC2626"/>
            </a:solidFill>
            <a:prstDash val="solid"/>
          </a:ln>
        </p:spPr>
      </p:sp>
      <p:sp>
        <p:nvSpPr>
          <p:cNvPr id="17" name="Text 15"/>
          <p:cNvSpPr/>
          <p:nvPr/>
        </p:nvSpPr>
        <p:spPr>
          <a:xfrm>
            <a:off x="411480" y="2496312"/>
            <a:ext cx="3840480" cy="274320"/>
          </a:xfrm>
          <a:prstGeom prst="rect">
            <a:avLst/>
          </a:prstGeom>
          <a:noFill/>
          <a:ln/>
        </p:spPr>
        <p:txBody>
          <a:bodyPr wrap="square" lIns="0" tIns="0" rIns="0" bIns="0" rtlCol="0" anchor="ctr"/>
          <a:lstStyle/>
          <a:p>
            <a:pPr indent="0" marL="0">
              <a:buNone/>
            </a:pPr>
            <a:r>
              <a:rPr lang="en-US" sz="1100" b="1" dirty="0">
                <a:solidFill>
                  <a:srgbClr val="DC2626"/>
                </a:solidFill>
              </a:rPr>
              <a:t>⚡  Exploit Path</a:t>
            </a:r>
            <a:endParaRPr lang="en-US" sz="1100" dirty="0"/>
          </a:p>
        </p:txBody>
      </p:sp>
      <p:sp>
        <p:nvSpPr>
          <p:cNvPr id="18" name="Text 16"/>
          <p:cNvSpPr/>
          <p:nvPr/>
        </p:nvSpPr>
        <p:spPr>
          <a:xfrm>
            <a:off x="411480" y="2770632"/>
            <a:ext cx="3840480" cy="804672"/>
          </a:xfrm>
          <a:prstGeom prst="rect">
            <a:avLst/>
          </a:prstGeom>
          <a:noFill/>
          <a:ln/>
        </p:spPr>
        <p:txBody>
          <a:bodyPr wrap="square" lIns="0" tIns="0" rIns="0" bIns="0" rtlCol="0" anchor="ctr"/>
          <a:lstStyle/>
          <a:p>
            <a:pPr indent="0" marL="0">
              <a:buNone/>
            </a:pPr>
            <a:r>
              <a:rPr lang="en-US" sz="950" dirty="0">
                <a:solidFill>
                  <a:srgbClr val="1E293B"/>
                </a:solidFill>
              </a:rPr>
              <a:t>Attacker sends a POST to /order with a crafted JSON payload containing _$$ND_FUNC$$_function(){...}(). The Lambda deserializes it, executes the injected code, and logs FILE READ SUCCESS to CloudWatch — even though the API returns a generic 500 error to the client.</a:t>
            </a:r>
            <a:endParaRPr lang="en-US" sz="950" dirty="0"/>
          </a:p>
        </p:txBody>
      </p:sp>
      <p:sp>
        <p:nvSpPr>
          <p:cNvPr id="19" name="Shape 17"/>
          <p:cNvSpPr/>
          <p:nvPr/>
        </p:nvSpPr>
        <p:spPr>
          <a:xfrm>
            <a:off x="4663440" y="914400"/>
            <a:ext cx="4251960" cy="14173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663440" y="914400"/>
            <a:ext cx="50292" cy="1417320"/>
          </a:xfrm>
          <a:prstGeom prst="rect">
            <a:avLst/>
          </a:prstGeom>
          <a:solidFill>
            <a:srgbClr val="16A34A"/>
          </a:solidFill>
          <a:ln w="12700">
            <a:solidFill>
              <a:srgbClr val="16A34A"/>
            </a:solidFill>
            <a:prstDash val="solid"/>
          </a:ln>
        </p:spPr>
      </p:sp>
      <p:sp>
        <p:nvSpPr>
          <p:cNvPr id="21" name="Text 19"/>
          <p:cNvSpPr/>
          <p:nvPr/>
        </p:nvSpPr>
        <p:spPr>
          <a:xfrm>
            <a:off x="4846320" y="960120"/>
            <a:ext cx="3931920" cy="274320"/>
          </a:xfrm>
          <a:prstGeom prst="rect">
            <a:avLst/>
          </a:prstGeom>
          <a:noFill/>
          <a:ln/>
        </p:spPr>
        <p:txBody>
          <a:bodyPr wrap="square" lIns="0" tIns="0" rIns="0" bIns="0" rtlCol="0" anchor="ctr"/>
          <a:lstStyle/>
          <a:p>
            <a:pPr indent="0" marL="0">
              <a:buNone/>
            </a:pPr>
            <a:r>
              <a:rPr lang="en-US" sz="1100" b="1" dirty="0">
                <a:solidFill>
                  <a:srgbClr val="16A34A"/>
                </a:solidFill>
              </a:rPr>
              <a:t>✅  Fix Applied</a:t>
            </a:r>
            <a:endParaRPr lang="en-US" sz="1100" dirty="0"/>
          </a:p>
        </p:txBody>
      </p:sp>
      <p:sp>
        <p:nvSpPr>
          <p:cNvPr id="22" name="Text 20"/>
          <p:cNvSpPr/>
          <p:nvPr/>
        </p:nvSpPr>
        <p:spPr>
          <a:xfrm>
            <a:off x="4846320" y="1234440"/>
            <a:ext cx="3931920" cy="1005840"/>
          </a:xfrm>
          <a:prstGeom prst="rect">
            <a:avLst/>
          </a:prstGeom>
          <a:noFill/>
          <a:ln/>
        </p:spPr>
        <p:txBody>
          <a:bodyPr wrap="square" lIns="0" tIns="0" rIns="0" bIns="0" rtlCol="0" anchor="ctr"/>
          <a:lstStyle/>
          <a:p>
            <a:pPr indent="0" marL="0">
              <a:buNone/>
            </a:pPr>
            <a:r>
              <a:rPr lang="en-US" sz="950" dirty="0">
                <a:solidFill>
                  <a:srgbClr val="1E293B"/>
                </a:solidFill>
              </a:rPr>
              <a:t>Remove node-serialize from package.json entirely. Replace serialize.unserialize() with JSON.parse() wrapped in try/catch. Add an explicit allowlist validation for the action field (new, get, orders, shipping, billing, cancel) before any further processing.</a:t>
            </a:r>
            <a:endParaRPr lang="en-US" sz="950" dirty="0"/>
          </a:p>
        </p:txBody>
      </p:sp>
      <p:sp>
        <p:nvSpPr>
          <p:cNvPr id="23" name="Shape 21"/>
          <p:cNvSpPr/>
          <p:nvPr/>
        </p:nvSpPr>
        <p:spPr>
          <a:xfrm>
            <a:off x="4663440" y="2450592"/>
            <a:ext cx="4251960" cy="11704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4" name="Shape 22"/>
          <p:cNvSpPr/>
          <p:nvPr/>
        </p:nvSpPr>
        <p:spPr>
          <a:xfrm>
            <a:off x="4663440" y="2450592"/>
            <a:ext cx="50292" cy="1170432"/>
          </a:xfrm>
          <a:prstGeom prst="rect">
            <a:avLst/>
          </a:prstGeom>
          <a:solidFill>
            <a:srgbClr val="EA580C"/>
          </a:solidFill>
          <a:ln w="12700">
            <a:solidFill>
              <a:srgbClr val="EA580C"/>
            </a:solidFill>
            <a:prstDash val="solid"/>
          </a:ln>
        </p:spPr>
      </p:sp>
      <p:sp>
        <p:nvSpPr>
          <p:cNvPr id="25" name="Text 23"/>
          <p:cNvSpPr/>
          <p:nvPr/>
        </p:nvSpPr>
        <p:spPr>
          <a:xfrm>
            <a:off x="4846320" y="2496312"/>
            <a:ext cx="3931920" cy="274320"/>
          </a:xfrm>
          <a:prstGeom prst="rect">
            <a:avLst/>
          </a:prstGeom>
          <a:noFill/>
          <a:ln/>
        </p:spPr>
        <p:txBody>
          <a:bodyPr wrap="square" lIns="0" tIns="0" rIns="0" bIns="0" rtlCol="0" anchor="ctr"/>
          <a:lstStyle/>
          <a:p>
            <a:pPr indent="0" marL="0">
              <a:buNone/>
            </a:pPr>
            <a:r>
              <a:rPr lang="en-US" sz="1100" b="1" dirty="0">
                <a:solidFill>
                  <a:srgbClr val="EA580C"/>
                </a:solidFill>
              </a:rPr>
              <a:t>💥  Security Impact</a:t>
            </a:r>
            <a:endParaRPr lang="en-US" sz="1100" dirty="0"/>
          </a:p>
        </p:txBody>
      </p:sp>
      <p:sp>
        <p:nvSpPr>
          <p:cNvPr id="26" name="Text 24"/>
          <p:cNvSpPr/>
          <p:nvPr/>
        </p:nvSpPr>
        <p:spPr>
          <a:xfrm>
            <a:off x="4846320" y="2770632"/>
            <a:ext cx="3931920" cy="804672"/>
          </a:xfrm>
          <a:prstGeom prst="rect">
            <a:avLst/>
          </a:prstGeom>
          <a:noFill/>
          <a:ln/>
        </p:spPr>
        <p:txBody>
          <a:bodyPr wrap="square" lIns="0" tIns="0" rIns="0" bIns="0" rtlCol="0" anchor="ctr"/>
          <a:lstStyle/>
          <a:p>
            <a:pPr indent="0" marL="0">
              <a:buNone/>
            </a:pPr>
            <a:r>
              <a:rPr lang="en-US" sz="950" dirty="0">
                <a:solidFill>
                  <a:srgbClr val="1E293B"/>
                </a:solidFill>
              </a:rPr>
              <a:t>Full backend code execution with zero authentication. Attacker can read /tmp files, dump Lambda environment variables (including AWS credentials), and interact with all AWS services using the function's IAM role.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38BDF8"/>
          </a:solidFill>
          <a:ln w="12700">
            <a:solidFill>
              <a:srgbClr val="38BDF8"/>
            </a:solidFill>
            <a:prstDash val="solid"/>
          </a:ln>
        </p:spPr>
      </p:sp>
      <p:sp>
        <p:nvSpPr>
          <p:cNvPr id="3" name="Shape 1"/>
          <p:cNvSpPr/>
          <p:nvPr/>
        </p:nvSpPr>
        <p:spPr>
          <a:xfrm>
            <a:off x="365760" y="640080"/>
            <a:ext cx="1554480" cy="256032"/>
          </a:xfrm>
          <a:prstGeom prst="roundRect">
            <a:avLst>
              <a:gd name="adj" fmla="val 50000"/>
            </a:avLst>
          </a:prstGeom>
          <a:solidFill>
            <a:srgbClr val="38BDF8"/>
          </a:solidFill>
          <a:ln w="12700">
            <a:solidFill>
              <a:srgbClr val="38BDF8"/>
            </a:solidFill>
            <a:prstDash val="solid"/>
          </a:ln>
        </p:spPr>
      </p:sp>
      <p:sp>
        <p:nvSpPr>
          <p:cNvPr id="4" name="Text 2"/>
          <p:cNvSpPr/>
          <p:nvPr/>
        </p:nvSpPr>
        <p:spPr>
          <a:xfrm>
            <a:off x="365760" y="640080"/>
            <a:ext cx="1554480" cy="256032"/>
          </a:xfrm>
          <a:prstGeom prst="rect">
            <a:avLst/>
          </a:prstGeom>
          <a:noFill/>
          <a:ln/>
        </p:spPr>
        <p:txBody>
          <a:bodyPr wrap="square" lIns="0" tIns="0" rIns="0" bIns="0" rtlCol="0" anchor="ctr"/>
          <a:lstStyle/>
          <a:p>
            <a:pPr algn="ctr" indent="0" marL="0">
              <a:buNone/>
            </a:pPr>
            <a:r>
              <a:rPr lang="en-US" sz="800" b="1" dirty="0">
                <a:solidFill>
                  <a:srgbClr val="0F172A"/>
                </a:solidFill>
              </a:rPr>
              <a:t>LESSON 2</a:t>
            </a:r>
            <a:endParaRPr lang="en-US" sz="800" dirty="0"/>
          </a:p>
        </p:txBody>
      </p:sp>
      <p:sp>
        <p:nvSpPr>
          <p:cNvPr id="5" name="Text 3"/>
          <p:cNvSpPr/>
          <p:nvPr/>
        </p:nvSpPr>
        <p:spPr>
          <a:xfrm>
            <a:off x="365760" y="1005840"/>
            <a:ext cx="5943600" cy="1645920"/>
          </a:xfrm>
          <a:prstGeom prst="rect">
            <a:avLst/>
          </a:prstGeom>
          <a:noFill/>
          <a:ln/>
        </p:spPr>
        <p:txBody>
          <a:bodyPr wrap="square"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Broken Authentication</a:t>
            </a:r>
            <a:endParaRPr lang="en-US" sz="3800" dirty="0"/>
          </a:p>
          <a:p>
            <a:pPr indent="0" marL="0">
              <a:buNone/>
            </a:pPr>
            <a:r>
              <a:rPr lang="en-US" sz="3800" b="1" dirty="0">
                <a:solidFill>
                  <a:srgbClr val="FFFFFF"/>
                </a:solidFill>
                <a:latin typeface="Arial Black" pitchFamily="34" charset="0"/>
                <a:ea typeface="Arial Black" pitchFamily="34" charset="-122"/>
                <a:cs typeface="Arial Black" pitchFamily="34" charset="-120"/>
              </a:rPr>
              <a:t>(JWT Forgery)</a:t>
            </a:r>
            <a:endParaRPr lang="en-US" sz="3800" dirty="0"/>
          </a:p>
        </p:txBody>
      </p:sp>
      <p:sp>
        <p:nvSpPr>
          <p:cNvPr id="6" name="Text 4"/>
          <p:cNvSpPr/>
          <p:nvPr/>
        </p:nvSpPr>
        <p:spPr>
          <a:xfrm>
            <a:off x="365760" y="2743200"/>
            <a:ext cx="5943600" cy="822960"/>
          </a:xfrm>
          <a:prstGeom prst="rect">
            <a:avLst/>
          </a:prstGeom>
          <a:noFill/>
          <a:ln/>
        </p:spPr>
        <p:txBody>
          <a:bodyPr wrap="square" rtlCol="0" anchor="ctr"/>
          <a:lstStyle/>
          <a:p>
            <a:pPr indent="0" marL="0">
              <a:buNone/>
            </a:pPr>
            <a:r>
              <a:rPr lang="en-US" sz="1300" dirty="0">
                <a:solidFill>
                  <a:srgbClr val="94A3B8"/>
                </a:solidFill>
              </a:rPr>
              <a:t>The backend decodes JWT payloads without verifying the cryptographic signature, allowing any authenticated user to impersonate any other user.</a:t>
            </a:r>
            <a:endParaRPr lang="en-US" sz="1300" dirty="0"/>
          </a:p>
        </p:txBody>
      </p:sp>
      <p:sp>
        <p:nvSpPr>
          <p:cNvPr id="7" name="Shape 5"/>
          <p:cNvSpPr/>
          <p:nvPr/>
        </p:nvSpPr>
        <p:spPr>
          <a:xfrm>
            <a:off x="6400800" y="1005840"/>
            <a:ext cx="2468880" cy="731520"/>
          </a:xfrm>
          <a:prstGeom prst="rect">
            <a:avLst/>
          </a:prstGeom>
          <a:solidFill>
            <a:srgbClr val="DC2626"/>
          </a:solidFill>
          <a:ln w="12700">
            <a:solidFill>
              <a:srgbClr val="DC2626"/>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6446520" y="1005840"/>
            <a:ext cx="2377440" cy="731520"/>
          </a:xfrm>
          <a:prstGeom prst="rect">
            <a:avLst/>
          </a:prstGeom>
          <a:noFill/>
          <a:ln/>
        </p:spPr>
        <p:txBody>
          <a:bodyPr wrap="square" lIns="0" tIns="0" rIns="0" bIns="0" rtlCol="0" anchor="ctr"/>
          <a:lstStyle/>
          <a:p>
            <a:pPr algn="ctr" indent="0" marL="0">
              <a:buNone/>
            </a:pPr>
            <a:r>
              <a:rPr lang="en-US" sz="1400" b="1" dirty="0">
                <a:solidFill>
                  <a:srgbClr val="FFFFFF"/>
                </a:solidFill>
              </a:rPr>
              <a:t>Header</a:t>
            </a:r>
            <a:endParaRPr lang="en-US" sz="1400" dirty="0"/>
          </a:p>
        </p:txBody>
      </p:sp>
      <p:sp>
        <p:nvSpPr>
          <p:cNvPr id="9" name="Shape 7"/>
          <p:cNvSpPr/>
          <p:nvPr/>
        </p:nvSpPr>
        <p:spPr>
          <a:xfrm>
            <a:off x="6400800" y="2011680"/>
            <a:ext cx="2468880" cy="731520"/>
          </a:xfrm>
          <a:prstGeom prst="rect">
            <a:avLst/>
          </a:prstGeom>
          <a:solidFill>
            <a:srgbClr val="EA580C"/>
          </a:solidFill>
          <a:ln w="12700">
            <a:solidFill>
              <a:srgbClr val="EA580C"/>
            </a:solidFill>
            <a:prstDash val="solid"/>
          </a:ln>
          <a:effectLst>
            <a:outerShdw sx="100000" sy="100000" kx="0" ky="0" algn="bl" rotWithShape="0" blurRad="101600" dist="38100" dir="8100000">
              <a:srgbClr val="000000">
                <a:alpha val="18000"/>
              </a:srgbClr>
            </a:outerShdw>
          </a:effectLst>
        </p:spPr>
      </p:sp>
      <p:sp>
        <p:nvSpPr>
          <p:cNvPr id="10" name="Text 8"/>
          <p:cNvSpPr/>
          <p:nvPr/>
        </p:nvSpPr>
        <p:spPr>
          <a:xfrm>
            <a:off x="6446520" y="2011680"/>
            <a:ext cx="2377440" cy="731520"/>
          </a:xfrm>
          <a:prstGeom prst="rect">
            <a:avLst/>
          </a:prstGeom>
          <a:noFill/>
          <a:ln/>
        </p:spPr>
        <p:txBody>
          <a:bodyPr wrap="square" lIns="0" tIns="0" rIns="0" bIns="0" rtlCol="0" anchor="ctr"/>
          <a:lstStyle/>
          <a:p>
            <a:pPr algn="ctr" indent="0" marL="0">
              <a:buNone/>
            </a:pPr>
            <a:r>
              <a:rPr lang="en-US" sz="1400" b="1" dirty="0">
                <a:solidFill>
                  <a:srgbClr val="FFFFFF"/>
                </a:solidFill>
              </a:rPr>
              <a:t>Payload</a:t>
            </a:r>
            <a:endParaRPr lang="en-US" sz="1400" dirty="0"/>
          </a:p>
        </p:txBody>
      </p:sp>
      <p:sp>
        <p:nvSpPr>
          <p:cNvPr id="11" name="Shape 9"/>
          <p:cNvSpPr/>
          <p:nvPr/>
        </p:nvSpPr>
        <p:spPr>
          <a:xfrm>
            <a:off x="6400800" y="3017520"/>
            <a:ext cx="2468880" cy="731520"/>
          </a:xfrm>
          <a:prstGeom prst="rect">
            <a:avLst/>
          </a:prstGeom>
          <a:solidFill>
            <a:srgbClr val="16A34A"/>
          </a:solidFill>
          <a:ln w="12700">
            <a:solidFill>
              <a:srgbClr val="16A34A"/>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6446520" y="3017520"/>
            <a:ext cx="2377440" cy="731520"/>
          </a:xfrm>
          <a:prstGeom prst="rect">
            <a:avLst/>
          </a:prstGeom>
          <a:noFill/>
          <a:ln/>
        </p:spPr>
        <p:txBody>
          <a:bodyPr wrap="square" lIns="0" tIns="0" rIns="0" bIns="0" rtlCol="0" anchor="ctr"/>
          <a:lstStyle/>
          <a:p>
            <a:pPr algn="ctr" indent="0" marL="0">
              <a:buNone/>
            </a:pPr>
            <a:r>
              <a:rPr lang="en-US" sz="1400" b="1" dirty="0">
                <a:solidFill>
                  <a:srgbClr val="FFFFFF"/>
                </a:solidFill>
              </a:rPr>
              <a:t>Signature</a:t>
            </a:r>
            <a:endParaRPr lang="en-US" sz="1400" dirty="0"/>
          </a:p>
        </p:txBody>
      </p:sp>
      <p:sp>
        <p:nvSpPr>
          <p:cNvPr id="13" name="Text 11"/>
          <p:cNvSpPr/>
          <p:nvPr/>
        </p:nvSpPr>
        <p:spPr>
          <a:xfrm>
            <a:off x="6400800" y="4069080"/>
            <a:ext cx="2468880" cy="274320"/>
          </a:xfrm>
          <a:prstGeom prst="rect">
            <a:avLst/>
          </a:prstGeom>
          <a:noFill/>
          <a:ln/>
        </p:spPr>
        <p:txBody>
          <a:bodyPr wrap="square" rtlCol="0" anchor="ctr"/>
          <a:lstStyle/>
          <a:p>
            <a:pPr algn="ctr" indent="0" marL="0">
              <a:buNone/>
            </a:pPr>
            <a:r>
              <a:rPr lang="en-US" sz="1000" b="1" dirty="0">
                <a:solidFill>
                  <a:srgbClr val="DC2626"/>
                </a:solidFill>
              </a:rPr>
              <a:t>❌ NEVER VERIFIED</a:t>
            </a:r>
            <a:endParaRPr lang="en-US" sz="1000" dirty="0"/>
          </a:p>
        </p:txBody>
      </p:sp>
      <p:sp>
        <p:nvSpPr>
          <p:cNvPr id="14" name="Shape 12"/>
          <p:cNvSpPr/>
          <p:nvPr/>
        </p:nvSpPr>
        <p:spPr>
          <a:xfrm>
            <a:off x="0" y="4869180"/>
            <a:ext cx="9144000" cy="274320"/>
          </a:xfrm>
          <a:prstGeom prst="rect">
            <a:avLst/>
          </a:prstGeom>
          <a:solidFill>
            <a:srgbClr val="1E293B"/>
          </a:solidFill>
          <a:ln w="12700">
            <a:solidFill>
              <a:srgbClr val="1E293B"/>
            </a:solidFill>
            <a:prstDash val="solid"/>
          </a:ln>
        </p:spPr>
      </p:sp>
      <p:sp>
        <p:nvSpPr>
          <p:cNvPr id="15" name="Text 13"/>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16" name="Text 14"/>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6 / 15</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8A"/>
          </a:solidFill>
          <a:ln w="12700">
            <a:solidFill>
              <a:srgbClr val="1E3A8A"/>
            </a:solidFill>
            <a:prstDash val="solid"/>
          </a:ln>
        </p:spPr>
      </p:sp>
      <p:sp>
        <p:nvSpPr>
          <p:cNvPr id="3" name="Shape 1"/>
          <p:cNvSpPr/>
          <p:nvPr/>
        </p:nvSpPr>
        <p:spPr>
          <a:xfrm>
            <a:off x="0" y="54864"/>
            <a:ext cx="9144000" cy="658368"/>
          </a:xfrm>
          <a:prstGeom prst="rect">
            <a:avLst/>
          </a:prstGeom>
          <a:solidFill>
            <a:srgbClr val="1E3A8A"/>
          </a:solidFill>
          <a:ln w="12700">
            <a:solidFill>
              <a:srgbClr val="1E3A8A"/>
            </a:solidFill>
            <a:prstDash val="solid"/>
          </a:ln>
        </p:spPr>
      </p:sp>
      <p:sp>
        <p:nvSpPr>
          <p:cNvPr id="4" name="Text 2"/>
          <p:cNvSpPr/>
          <p:nvPr/>
        </p:nvSpPr>
        <p:spPr>
          <a:xfrm>
            <a:off x="320040" y="91440"/>
            <a:ext cx="1645920" cy="228600"/>
          </a:xfrm>
          <a:prstGeom prst="rect">
            <a:avLst/>
          </a:prstGeom>
          <a:noFill/>
          <a:ln/>
        </p:spPr>
        <p:txBody>
          <a:bodyPr wrap="square" lIns="0" tIns="0" rIns="0" bIns="0" rtlCol="0" anchor="ctr"/>
          <a:lstStyle/>
          <a:p>
            <a:pPr indent="0" marL="0">
              <a:buNone/>
            </a:pPr>
            <a:r>
              <a:rPr lang="en-US" sz="1000" b="1" dirty="0">
                <a:solidFill>
                  <a:srgbClr val="FFFFFF"/>
                </a:solidFill>
              </a:rPr>
              <a:t>Lesson #2</a:t>
            </a:r>
            <a:endParaRPr lang="en-US" sz="1000" dirty="0"/>
          </a:p>
        </p:txBody>
      </p:sp>
      <p:sp>
        <p:nvSpPr>
          <p:cNvPr id="5" name="Text 3"/>
          <p:cNvSpPr/>
          <p:nvPr/>
        </p:nvSpPr>
        <p:spPr>
          <a:xfrm>
            <a:off x="320040" y="292608"/>
            <a:ext cx="7132320" cy="36576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Broken Authentication — JWT Forgery</a:t>
            </a:r>
            <a:endParaRPr lang="en-US" sz="2200" dirty="0"/>
          </a:p>
        </p:txBody>
      </p:sp>
      <p:sp>
        <p:nvSpPr>
          <p:cNvPr id="6" name="Shape 4"/>
          <p:cNvSpPr/>
          <p:nvPr/>
        </p:nvSpPr>
        <p:spPr>
          <a:xfrm>
            <a:off x="7406640" y="201168"/>
            <a:ext cx="1508760" cy="310896"/>
          </a:xfrm>
          <a:prstGeom prst="rect">
            <a:avLst/>
          </a:prstGeom>
          <a:solidFill>
            <a:srgbClr val="0F172A"/>
          </a:solidFill>
          <a:ln w="12700">
            <a:solidFill>
              <a:srgbClr val="0F172A"/>
            </a:solidFill>
            <a:prstDash val="solid"/>
          </a:ln>
        </p:spPr>
      </p:sp>
      <p:sp>
        <p:nvSpPr>
          <p:cNvPr id="7" name="Text 5"/>
          <p:cNvSpPr/>
          <p:nvPr/>
        </p:nvSpPr>
        <p:spPr>
          <a:xfrm>
            <a:off x="7406640" y="201168"/>
            <a:ext cx="1508760" cy="310896"/>
          </a:xfrm>
          <a:prstGeom prst="rect">
            <a:avLst/>
          </a:prstGeom>
          <a:noFill/>
          <a:ln/>
        </p:spPr>
        <p:txBody>
          <a:bodyPr wrap="square" lIns="0" tIns="0" rIns="0" bIns="0" rtlCol="0" anchor="ctr"/>
          <a:lstStyle/>
          <a:p>
            <a:pPr algn="ctr" indent="0" marL="0">
              <a:buNone/>
            </a:pPr>
            <a:r>
              <a:rPr lang="en-US" sz="800" b="1" dirty="0">
                <a:solidFill>
                  <a:srgbClr val="38BDF8"/>
                </a:solidFill>
              </a:rPr>
              <a:t>DVSA-ORDER-MANAGER</a:t>
            </a:r>
            <a:endParaRPr lang="en-US" sz="800" dirty="0"/>
          </a:p>
        </p:txBody>
      </p:sp>
      <p:sp>
        <p:nvSpPr>
          <p:cNvPr id="8" name="Shape 6"/>
          <p:cNvSpPr/>
          <p:nvPr/>
        </p:nvSpPr>
        <p:spPr>
          <a:xfrm>
            <a:off x="0" y="4869180"/>
            <a:ext cx="9144000" cy="274320"/>
          </a:xfrm>
          <a:prstGeom prst="rect">
            <a:avLst/>
          </a:prstGeom>
          <a:solidFill>
            <a:srgbClr val="1E293B"/>
          </a:solidFill>
          <a:ln w="12700">
            <a:solidFill>
              <a:srgbClr val="1E293B"/>
            </a:solidFill>
            <a:prstDash val="solid"/>
          </a:ln>
        </p:spPr>
      </p:sp>
      <p:sp>
        <p:nvSpPr>
          <p:cNvPr id="9" name="Text 7"/>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10" name="Text 8"/>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7 / 15</a:t>
            </a:r>
            <a:endParaRPr lang="en-US" sz="700" dirty="0"/>
          </a:p>
        </p:txBody>
      </p:sp>
      <p:sp>
        <p:nvSpPr>
          <p:cNvPr id="11" name="Shape 9"/>
          <p:cNvSpPr/>
          <p:nvPr/>
        </p:nvSpPr>
        <p:spPr>
          <a:xfrm>
            <a:off x="228600" y="914400"/>
            <a:ext cx="4160520" cy="14173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228600" y="914400"/>
            <a:ext cx="50292" cy="1417320"/>
          </a:xfrm>
          <a:prstGeom prst="rect">
            <a:avLst/>
          </a:prstGeom>
          <a:solidFill>
            <a:srgbClr val="1E3A8A"/>
          </a:solidFill>
          <a:ln w="12700">
            <a:solidFill>
              <a:srgbClr val="1E3A8A"/>
            </a:solidFill>
            <a:prstDash val="solid"/>
          </a:ln>
        </p:spPr>
      </p:sp>
      <p:sp>
        <p:nvSpPr>
          <p:cNvPr id="13" name="Text 11"/>
          <p:cNvSpPr/>
          <p:nvPr/>
        </p:nvSpPr>
        <p:spPr>
          <a:xfrm>
            <a:off x="411480" y="960120"/>
            <a:ext cx="3840480" cy="274320"/>
          </a:xfrm>
          <a:prstGeom prst="rect">
            <a:avLst/>
          </a:prstGeom>
          <a:noFill/>
          <a:ln/>
        </p:spPr>
        <p:txBody>
          <a:bodyPr wrap="square" lIns="0" tIns="0" rIns="0" bIns="0" rtlCol="0" anchor="ctr"/>
          <a:lstStyle/>
          <a:p>
            <a:pPr indent="0" marL="0">
              <a:buNone/>
            </a:pPr>
            <a:r>
              <a:rPr lang="en-US" sz="1100" b="1" dirty="0">
                <a:solidFill>
                  <a:srgbClr val="1E3A8A"/>
                </a:solidFill>
              </a:rPr>
              <a:t>🔍  How It Works</a:t>
            </a:r>
            <a:endParaRPr lang="en-US" sz="1100" dirty="0"/>
          </a:p>
        </p:txBody>
      </p:sp>
      <p:sp>
        <p:nvSpPr>
          <p:cNvPr id="14" name="Text 12"/>
          <p:cNvSpPr/>
          <p:nvPr/>
        </p:nvSpPr>
        <p:spPr>
          <a:xfrm>
            <a:off x="411480" y="1234440"/>
            <a:ext cx="3840480" cy="1005840"/>
          </a:xfrm>
          <a:prstGeom prst="rect">
            <a:avLst/>
          </a:prstGeom>
          <a:noFill/>
          <a:ln/>
        </p:spPr>
        <p:txBody>
          <a:bodyPr wrap="square" lIns="0" tIns="0" rIns="0" bIns="0" rtlCol="0" anchor="ctr"/>
          <a:lstStyle/>
          <a:p>
            <a:pPr indent="0" marL="0">
              <a:buNone/>
            </a:pPr>
            <a:r>
              <a:rPr lang="en-US" sz="950" dirty="0">
                <a:solidFill>
                  <a:srgbClr val="1E293B"/>
                </a:solidFill>
              </a:rPr>
              <a:t>The Lambda handler splits the Authorization header token on '.', base64-decodes the middle section (the payload), and reads username and sub directly from the resulting JSON — without ever calling any signature verification function. The signature is completely ignored.</a:t>
            </a:r>
            <a:endParaRPr lang="en-US" sz="950" dirty="0"/>
          </a:p>
        </p:txBody>
      </p:sp>
      <p:sp>
        <p:nvSpPr>
          <p:cNvPr id="15" name="Shape 13"/>
          <p:cNvSpPr/>
          <p:nvPr/>
        </p:nvSpPr>
        <p:spPr>
          <a:xfrm>
            <a:off x="228600" y="2450592"/>
            <a:ext cx="4160520" cy="11704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228600" y="2450592"/>
            <a:ext cx="50292" cy="1170432"/>
          </a:xfrm>
          <a:prstGeom prst="rect">
            <a:avLst/>
          </a:prstGeom>
          <a:solidFill>
            <a:srgbClr val="DC2626"/>
          </a:solidFill>
          <a:ln w="12700">
            <a:solidFill>
              <a:srgbClr val="DC2626"/>
            </a:solidFill>
            <a:prstDash val="solid"/>
          </a:ln>
        </p:spPr>
      </p:sp>
      <p:sp>
        <p:nvSpPr>
          <p:cNvPr id="17" name="Text 15"/>
          <p:cNvSpPr/>
          <p:nvPr/>
        </p:nvSpPr>
        <p:spPr>
          <a:xfrm>
            <a:off x="411480" y="2496312"/>
            <a:ext cx="3840480" cy="274320"/>
          </a:xfrm>
          <a:prstGeom prst="rect">
            <a:avLst/>
          </a:prstGeom>
          <a:noFill/>
          <a:ln/>
        </p:spPr>
        <p:txBody>
          <a:bodyPr wrap="square" lIns="0" tIns="0" rIns="0" bIns="0" rtlCol="0" anchor="ctr"/>
          <a:lstStyle/>
          <a:p>
            <a:pPr indent="0" marL="0">
              <a:buNone/>
            </a:pPr>
            <a:r>
              <a:rPr lang="en-US" sz="1100" b="1" dirty="0">
                <a:solidFill>
                  <a:srgbClr val="DC2626"/>
                </a:solidFill>
              </a:rPr>
              <a:t>⚡  Exploit Path</a:t>
            </a:r>
            <a:endParaRPr lang="en-US" sz="1100" dirty="0"/>
          </a:p>
        </p:txBody>
      </p:sp>
      <p:sp>
        <p:nvSpPr>
          <p:cNvPr id="18" name="Text 16"/>
          <p:cNvSpPr/>
          <p:nvPr/>
        </p:nvSpPr>
        <p:spPr>
          <a:xfrm>
            <a:off x="411480" y="2770632"/>
            <a:ext cx="3840480" cy="804672"/>
          </a:xfrm>
          <a:prstGeom prst="rect">
            <a:avLst/>
          </a:prstGeom>
          <a:noFill/>
          <a:ln/>
        </p:spPr>
        <p:txBody>
          <a:bodyPr wrap="square" lIns="0" tIns="0" rIns="0" bIns="0" rtlCol="0" anchor="ctr"/>
          <a:lstStyle/>
          <a:p>
            <a:pPr indent="0" marL="0">
              <a:buNone/>
            </a:pPr>
            <a:r>
              <a:rPr lang="en-US" sz="950" dirty="0">
                <a:solidFill>
                  <a:srgbClr val="1E293B"/>
                </a:solidFill>
              </a:rPr>
              <a:t>User B logs in and captures their TOKEN_B from DevTools. They decode the payload, replace username and sub with User C's identity (VICTIM_USER), re-encode the payload, and reattach the original signature. Sending this forged token returns User C's full order list.</a:t>
            </a:r>
            <a:endParaRPr lang="en-US" sz="950" dirty="0"/>
          </a:p>
        </p:txBody>
      </p:sp>
      <p:sp>
        <p:nvSpPr>
          <p:cNvPr id="19" name="Shape 17"/>
          <p:cNvSpPr/>
          <p:nvPr/>
        </p:nvSpPr>
        <p:spPr>
          <a:xfrm>
            <a:off x="4663440" y="914400"/>
            <a:ext cx="4251960" cy="14173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663440" y="914400"/>
            <a:ext cx="50292" cy="1417320"/>
          </a:xfrm>
          <a:prstGeom prst="rect">
            <a:avLst/>
          </a:prstGeom>
          <a:solidFill>
            <a:srgbClr val="16A34A"/>
          </a:solidFill>
          <a:ln w="12700">
            <a:solidFill>
              <a:srgbClr val="16A34A"/>
            </a:solidFill>
            <a:prstDash val="solid"/>
          </a:ln>
        </p:spPr>
      </p:sp>
      <p:sp>
        <p:nvSpPr>
          <p:cNvPr id="21" name="Text 19"/>
          <p:cNvSpPr/>
          <p:nvPr/>
        </p:nvSpPr>
        <p:spPr>
          <a:xfrm>
            <a:off x="4846320" y="960120"/>
            <a:ext cx="3931920" cy="274320"/>
          </a:xfrm>
          <a:prstGeom prst="rect">
            <a:avLst/>
          </a:prstGeom>
          <a:noFill/>
          <a:ln/>
        </p:spPr>
        <p:txBody>
          <a:bodyPr wrap="square" lIns="0" tIns="0" rIns="0" bIns="0" rtlCol="0" anchor="ctr"/>
          <a:lstStyle/>
          <a:p>
            <a:pPr indent="0" marL="0">
              <a:buNone/>
            </a:pPr>
            <a:r>
              <a:rPr lang="en-US" sz="1100" b="1" dirty="0">
                <a:solidFill>
                  <a:srgbClr val="16A34A"/>
                </a:solidFill>
              </a:rPr>
              <a:t>✅  Fix Applied</a:t>
            </a:r>
            <a:endParaRPr lang="en-US" sz="1100" dirty="0"/>
          </a:p>
        </p:txBody>
      </p:sp>
      <p:sp>
        <p:nvSpPr>
          <p:cNvPr id="22" name="Text 20"/>
          <p:cNvSpPr/>
          <p:nvPr/>
        </p:nvSpPr>
        <p:spPr>
          <a:xfrm>
            <a:off x="4846320" y="1234440"/>
            <a:ext cx="3931920" cy="1005840"/>
          </a:xfrm>
          <a:prstGeom prst="rect">
            <a:avLst/>
          </a:prstGeom>
          <a:noFill/>
          <a:ln/>
        </p:spPr>
        <p:txBody>
          <a:bodyPr wrap="square" lIns="0" tIns="0" rIns="0" bIns="0" rtlCol="0" anchor="ctr"/>
          <a:lstStyle/>
          <a:p>
            <a:pPr indent="0" marL="0">
              <a:buNone/>
            </a:pPr>
            <a:r>
              <a:rPr lang="en-US" sz="950" dirty="0">
                <a:solidFill>
                  <a:srgbClr val="1E293B"/>
                </a:solidFill>
              </a:rPr>
              <a:t>Add verifyCognitoJwt() helper that fetches Cognito JWKS public keys and calls jose.JWS.createVerify() to cryptographically validate the token. Validate iss and exp claims. Only then extract user identity from claims. Forged tokens now return HTTP 401.</a:t>
            </a:r>
            <a:endParaRPr lang="en-US" sz="950" dirty="0"/>
          </a:p>
        </p:txBody>
      </p:sp>
      <p:sp>
        <p:nvSpPr>
          <p:cNvPr id="23" name="Shape 21"/>
          <p:cNvSpPr/>
          <p:nvPr/>
        </p:nvSpPr>
        <p:spPr>
          <a:xfrm>
            <a:off x="4663440" y="2450592"/>
            <a:ext cx="4251960" cy="11704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4" name="Shape 22"/>
          <p:cNvSpPr/>
          <p:nvPr/>
        </p:nvSpPr>
        <p:spPr>
          <a:xfrm>
            <a:off x="4663440" y="2450592"/>
            <a:ext cx="50292" cy="1170432"/>
          </a:xfrm>
          <a:prstGeom prst="rect">
            <a:avLst/>
          </a:prstGeom>
          <a:solidFill>
            <a:srgbClr val="EA580C"/>
          </a:solidFill>
          <a:ln w="12700">
            <a:solidFill>
              <a:srgbClr val="EA580C"/>
            </a:solidFill>
            <a:prstDash val="solid"/>
          </a:ln>
        </p:spPr>
      </p:sp>
      <p:sp>
        <p:nvSpPr>
          <p:cNvPr id="25" name="Text 23"/>
          <p:cNvSpPr/>
          <p:nvPr/>
        </p:nvSpPr>
        <p:spPr>
          <a:xfrm>
            <a:off x="4846320" y="2496312"/>
            <a:ext cx="3931920" cy="274320"/>
          </a:xfrm>
          <a:prstGeom prst="rect">
            <a:avLst/>
          </a:prstGeom>
          <a:noFill/>
          <a:ln/>
        </p:spPr>
        <p:txBody>
          <a:bodyPr wrap="square" lIns="0" tIns="0" rIns="0" bIns="0" rtlCol="0" anchor="ctr"/>
          <a:lstStyle/>
          <a:p>
            <a:pPr indent="0" marL="0">
              <a:buNone/>
            </a:pPr>
            <a:r>
              <a:rPr lang="en-US" sz="1100" b="1" dirty="0">
                <a:solidFill>
                  <a:srgbClr val="EA580C"/>
                </a:solidFill>
              </a:rPr>
              <a:t>💥  Security Impact</a:t>
            </a:r>
            <a:endParaRPr lang="en-US" sz="1100" dirty="0"/>
          </a:p>
        </p:txBody>
      </p:sp>
      <p:sp>
        <p:nvSpPr>
          <p:cNvPr id="26" name="Text 24"/>
          <p:cNvSpPr/>
          <p:nvPr/>
        </p:nvSpPr>
        <p:spPr>
          <a:xfrm>
            <a:off x="4846320" y="2770632"/>
            <a:ext cx="3931920" cy="804672"/>
          </a:xfrm>
          <a:prstGeom prst="rect">
            <a:avLst/>
          </a:prstGeom>
          <a:noFill/>
          <a:ln/>
        </p:spPr>
        <p:txBody>
          <a:bodyPr wrap="square" lIns="0" tIns="0" rIns="0" bIns="0" rtlCol="0" anchor="ctr"/>
          <a:lstStyle/>
          <a:p>
            <a:pPr indent="0" marL="0">
              <a:buNone/>
            </a:pPr>
            <a:r>
              <a:rPr lang="en-US" sz="950" dirty="0">
                <a:solidFill>
                  <a:srgbClr val="1E293B"/>
                </a:solidFill>
              </a:rPr>
              <a:t>Complete account impersonation: attacker retrieves any victim's order list, order details, shipping address, and total amounts. Scales to any user in the system — attacker only needs a valid token of their own plus any victim identifier.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EA580C"/>
          </a:solidFill>
          <a:ln w="12700">
            <a:solidFill>
              <a:srgbClr val="EA580C"/>
            </a:solidFill>
            <a:prstDash val="solid"/>
          </a:ln>
        </p:spPr>
      </p:sp>
      <p:sp>
        <p:nvSpPr>
          <p:cNvPr id="3" name="Shape 1"/>
          <p:cNvSpPr/>
          <p:nvPr/>
        </p:nvSpPr>
        <p:spPr>
          <a:xfrm>
            <a:off x="365760" y="640080"/>
            <a:ext cx="1554480" cy="256032"/>
          </a:xfrm>
          <a:prstGeom prst="roundRect">
            <a:avLst>
              <a:gd name="adj" fmla="val 50000"/>
            </a:avLst>
          </a:prstGeom>
          <a:solidFill>
            <a:srgbClr val="38BDF8"/>
          </a:solidFill>
          <a:ln w="12700">
            <a:solidFill>
              <a:srgbClr val="38BDF8"/>
            </a:solidFill>
            <a:prstDash val="solid"/>
          </a:ln>
        </p:spPr>
      </p:sp>
      <p:sp>
        <p:nvSpPr>
          <p:cNvPr id="4" name="Text 2"/>
          <p:cNvSpPr/>
          <p:nvPr/>
        </p:nvSpPr>
        <p:spPr>
          <a:xfrm>
            <a:off x="365760" y="640080"/>
            <a:ext cx="1554480" cy="256032"/>
          </a:xfrm>
          <a:prstGeom prst="rect">
            <a:avLst/>
          </a:prstGeom>
          <a:noFill/>
          <a:ln/>
        </p:spPr>
        <p:txBody>
          <a:bodyPr wrap="square" lIns="0" tIns="0" rIns="0" bIns="0" rtlCol="0" anchor="ctr"/>
          <a:lstStyle/>
          <a:p>
            <a:pPr algn="ctr" indent="0" marL="0">
              <a:buNone/>
            </a:pPr>
            <a:r>
              <a:rPr lang="en-US" sz="800" b="1" dirty="0">
                <a:solidFill>
                  <a:srgbClr val="0F172A"/>
                </a:solidFill>
              </a:rPr>
              <a:t>LESSONS 3 + 4</a:t>
            </a:r>
            <a:endParaRPr lang="en-US" sz="800" dirty="0"/>
          </a:p>
        </p:txBody>
      </p:sp>
      <p:sp>
        <p:nvSpPr>
          <p:cNvPr id="5" name="Text 3"/>
          <p:cNvSpPr/>
          <p:nvPr/>
        </p:nvSpPr>
        <p:spPr>
          <a:xfrm>
            <a:off x="365760" y="1005840"/>
            <a:ext cx="5943600" cy="1645920"/>
          </a:xfrm>
          <a:prstGeom prst="rect">
            <a:avLst/>
          </a:prstGeom>
          <a:noFill/>
          <a:ln/>
        </p:spPr>
        <p:txBody>
          <a:bodyPr wrap="square" rtlCol="0" anchor="ctr"/>
          <a:lstStyle/>
          <a:p>
            <a:pPr indent="0" marL="0">
              <a:buNone/>
            </a:pPr>
            <a:r>
              <a:rPr lang="en-US" sz="3400" b="1" dirty="0">
                <a:solidFill>
                  <a:srgbClr val="FFFFFF"/>
                </a:solidFill>
                <a:latin typeface="Arial Black" pitchFamily="34" charset="0"/>
                <a:ea typeface="Arial Black" pitchFamily="34" charset="-122"/>
                <a:cs typeface="Arial Black" pitchFamily="34" charset="-120"/>
              </a:rPr>
              <a:t>Sensitive Data Disclosure</a:t>
            </a:r>
            <a:endParaRPr lang="en-US" sz="3400" dirty="0"/>
          </a:p>
          <a:p>
            <a:pPr indent="0" marL="0">
              <a:buNone/>
            </a:pPr>
            <a:r>
              <a:rPr lang="en-US" sz="3400" b="1" dirty="0">
                <a:solidFill>
                  <a:srgbClr val="FFFFFF"/>
                </a:solidFill>
                <a:latin typeface="Arial Black" pitchFamily="34" charset="0"/>
                <a:ea typeface="Arial Black" pitchFamily="34" charset="-122"/>
                <a:cs typeface="Arial Black" pitchFamily="34" charset="-120"/>
              </a:rPr>
              <a:t>&amp; Insecure Cloud Config</a:t>
            </a:r>
            <a:endParaRPr lang="en-US" sz="3400" dirty="0"/>
          </a:p>
        </p:txBody>
      </p:sp>
      <p:sp>
        <p:nvSpPr>
          <p:cNvPr id="6" name="Text 4"/>
          <p:cNvSpPr/>
          <p:nvPr/>
        </p:nvSpPr>
        <p:spPr>
          <a:xfrm>
            <a:off x="365760" y="2743200"/>
            <a:ext cx="5943600" cy="914400"/>
          </a:xfrm>
          <a:prstGeom prst="rect">
            <a:avLst/>
          </a:prstGeom>
          <a:noFill/>
          <a:ln/>
        </p:spPr>
        <p:txBody>
          <a:bodyPr wrap="square" rtlCol="0" anchor="ctr"/>
          <a:lstStyle/>
          <a:p>
            <a:pPr indent="0" marL="0">
              <a:buNone/>
            </a:pPr>
            <a:r>
              <a:rPr lang="en-US" sz="1200" dirty="0">
                <a:solidFill>
                  <a:srgbClr val="94A3B8"/>
                </a:solidFill>
              </a:rPr>
              <a:t>Lesson 3: Receipt function generates presigned S3 URLs without ownership checks.</a:t>
            </a:r>
            <a:endParaRPr lang="en-US" sz="1200" dirty="0"/>
          </a:p>
          <a:p>
            <a:pPr indent="0" marL="0">
              <a:buNone/>
            </a:pPr>
            <a:r>
              <a:rPr lang="en-US" sz="1200" dirty="0">
                <a:solidFill>
                  <a:srgbClr val="94A3B8"/>
                </a:solidFill>
              </a:rPr>
              <a:t>Lesson 4: S3 bucket accepts unauthenticated writes, triggering Lambda via S3 events.</a:t>
            </a:r>
            <a:endParaRPr lang="en-US" sz="1200" dirty="0"/>
          </a:p>
        </p:txBody>
      </p:sp>
      <p:sp>
        <p:nvSpPr>
          <p:cNvPr id="7" name="Shape 5"/>
          <p:cNvSpPr/>
          <p:nvPr/>
        </p:nvSpPr>
        <p:spPr>
          <a:xfrm>
            <a:off x="6492240" y="1188720"/>
            <a:ext cx="2377440" cy="141732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6583680" y="1261872"/>
            <a:ext cx="2194560" cy="365760"/>
          </a:xfrm>
          <a:prstGeom prst="rect">
            <a:avLst/>
          </a:prstGeom>
          <a:noFill/>
          <a:ln/>
        </p:spPr>
        <p:txBody>
          <a:bodyPr wrap="square" lIns="0" tIns="0" rIns="0" bIns="0" rtlCol="0" anchor="ctr"/>
          <a:lstStyle/>
          <a:p>
            <a:pPr indent="0" marL="0">
              <a:buNone/>
            </a:pPr>
            <a:r>
              <a:rPr lang="en-US" sz="1400" b="1" dirty="0">
                <a:solidFill>
                  <a:srgbClr val="EA580C"/>
                </a:solidFill>
              </a:rPr>
              <a:t>Lesson 3</a:t>
            </a:r>
            <a:endParaRPr lang="en-US" sz="1400" dirty="0"/>
          </a:p>
        </p:txBody>
      </p:sp>
      <p:sp>
        <p:nvSpPr>
          <p:cNvPr id="9" name="Text 7"/>
          <p:cNvSpPr/>
          <p:nvPr/>
        </p:nvSpPr>
        <p:spPr>
          <a:xfrm>
            <a:off x="6583680" y="1664208"/>
            <a:ext cx="2194560" cy="640080"/>
          </a:xfrm>
          <a:prstGeom prst="rect">
            <a:avLst/>
          </a:prstGeom>
          <a:noFill/>
          <a:ln/>
        </p:spPr>
        <p:txBody>
          <a:bodyPr wrap="square" lIns="0" tIns="0" rIns="0" bIns="0" rtlCol="0" anchor="ctr"/>
          <a:lstStyle/>
          <a:p>
            <a:pPr indent="0" marL="0">
              <a:buNone/>
            </a:pPr>
            <a:r>
              <a:rPr lang="en-US" sz="1100" dirty="0">
                <a:solidFill>
                  <a:srgbClr val="94A3B8"/>
                </a:solidFill>
              </a:rPr>
              <a:t>Missing ownership</a:t>
            </a:r>
            <a:endParaRPr lang="en-US" sz="1100" dirty="0"/>
          </a:p>
          <a:p>
            <a:pPr indent="0" marL="0">
              <a:buNone/>
            </a:pPr>
            <a:r>
              <a:rPr lang="en-US" sz="1100" dirty="0">
                <a:solidFill>
                  <a:srgbClr val="94A3B8"/>
                </a:solidFill>
              </a:rPr>
              <a:t>check on receipts</a:t>
            </a:r>
            <a:endParaRPr lang="en-US" sz="1100" dirty="0"/>
          </a:p>
        </p:txBody>
      </p:sp>
      <p:sp>
        <p:nvSpPr>
          <p:cNvPr id="10" name="Shape 8"/>
          <p:cNvSpPr/>
          <p:nvPr/>
        </p:nvSpPr>
        <p:spPr>
          <a:xfrm>
            <a:off x="6492240" y="2880360"/>
            <a:ext cx="2377440" cy="141732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6583680" y="2953512"/>
            <a:ext cx="2194560" cy="365760"/>
          </a:xfrm>
          <a:prstGeom prst="rect">
            <a:avLst/>
          </a:prstGeom>
          <a:noFill/>
          <a:ln/>
        </p:spPr>
        <p:txBody>
          <a:bodyPr wrap="square" lIns="0" tIns="0" rIns="0" bIns="0" rtlCol="0" anchor="ctr"/>
          <a:lstStyle/>
          <a:p>
            <a:pPr indent="0" marL="0">
              <a:buNone/>
            </a:pPr>
            <a:r>
              <a:rPr lang="en-US" sz="1400" b="1" dirty="0">
                <a:solidFill>
                  <a:srgbClr val="DC2626"/>
                </a:solidFill>
              </a:rPr>
              <a:t>Lesson 4</a:t>
            </a:r>
            <a:endParaRPr lang="en-US" sz="1400" dirty="0"/>
          </a:p>
        </p:txBody>
      </p:sp>
      <p:sp>
        <p:nvSpPr>
          <p:cNvPr id="12" name="Text 10"/>
          <p:cNvSpPr/>
          <p:nvPr/>
        </p:nvSpPr>
        <p:spPr>
          <a:xfrm>
            <a:off x="6583680" y="3355848"/>
            <a:ext cx="2194560" cy="640080"/>
          </a:xfrm>
          <a:prstGeom prst="rect">
            <a:avLst/>
          </a:prstGeom>
          <a:noFill/>
          <a:ln/>
        </p:spPr>
        <p:txBody>
          <a:bodyPr wrap="square" lIns="0" tIns="0" rIns="0" bIns="0" rtlCol="0" anchor="ctr"/>
          <a:lstStyle/>
          <a:p>
            <a:pPr indent="0" marL="0">
              <a:buNone/>
            </a:pPr>
            <a:r>
              <a:rPr lang="en-US" sz="1100" dirty="0">
                <a:solidFill>
                  <a:srgbClr val="94A3B8"/>
                </a:solidFill>
              </a:rPr>
              <a:t>Public S3 bucket</a:t>
            </a:r>
            <a:endParaRPr lang="en-US" sz="1100" dirty="0"/>
          </a:p>
          <a:p>
            <a:pPr indent="0" marL="0">
              <a:buNone/>
            </a:pPr>
            <a:r>
              <a:rPr lang="en-US" sz="1100" dirty="0">
                <a:solidFill>
                  <a:srgbClr val="94A3B8"/>
                </a:solidFill>
              </a:rPr>
              <a:t>+ Lambda trigger</a:t>
            </a:r>
            <a:endParaRPr lang="en-US" sz="1100" dirty="0"/>
          </a:p>
        </p:txBody>
      </p:sp>
      <p:sp>
        <p:nvSpPr>
          <p:cNvPr id="13" name="Shape 11"/>
          <p:cNvSpPr/>
          <p:nvPr/>
        </p:nvSpPr>
        <p:spPr>
          <a:xfrm>
            <a:off x="0" y="4869180"/>
            <a:ext cx="9144000" cy="274320"/>
          </a:xfrm>
          <a:prstGeom prst="rect">
            <a:avLst/>
          </a:prstGeom>
          <a:solidFill>
            <a:srgbClr val="1E293B"/>
          </a:solidFill>
          <a:ln w="12700">
            <a:solidFill>
              <a:srgbClr val="1E293B"/>
            </a:solidFill>
            <a:prstDash val="solid"/>
          </a:ln>
        </p:spPr>
      </p:sp>
      <p:sp>
        <p:nvSpPr>
          <p:cNvPr id="14" name="Text 12"/>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15" name="Text 13"/>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8 / 15</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A580C"/>
          </a:solidFill>
          <a:ln w="12700">
            <a:solidFill>
              <a:srgbClr val="EA580C"/>
            </a:solidFill>
            <a:prstDash val="solid"/>
          </a:ln>
        </p:spPr>
      </p:sp>
      <p:sp>
        <p:nvSpPr>
          <p:cNvPr id="3" name="Shape 1"/>
          <p:cNvSpPr/>
          <p:nvPr/>
        </p:nvSpPr>
        <p:spPr>
          <a:xfrm>
            <a:off x="0" y="54864"/>
            <a:ext cx="9144000" cy="658368"/>
          </a:xfrm>
          <a:prstGeom prst="rect">
            <a:avLst/>
          </a:prstGeom>
          <a:solidFill>
            <a:srgbClr val="EA580C"/>
          </a:solidFill>
          <a:ln w="12700">
            <a:solidFill>
              <a:srgbClr val="EA580C"/>
            </a:solidFill>
            <a:prstDash val="solid"/>
          </a:ln>
        </p:spPr>
      </p:sp>
      <p:sp>
        <p:nvSpPr>
          <p:cNvPr id="4" name="Text 2"/>
          <p:cNvSpPr/>
          <p:nvPr/>
        </p:nvSpPr>
        <p:spPr>
          <a:xfrm>
            <a:off x="320040" y="91440"/>
            <a:ext cx="1645920" cy="228600"/>
          </a:xfrm>
          <a:prstGeom prst="rect">
            <a:avLst/>
          </a:prstGeom>
          <a:noFill/>
          <a:ln/>
        </p:spPr>
        <p:txBody>
          <a:bodyPr wrap="square" lIns="0" tIns="0" rIns="0" bIns="0" rtlCol="0" anchor="ctr"/>
          <a:lstStyle/>
          <a:p>
            <a:pPr indent="0" marL="0">
              <a:buNone/>
            </a:pPr>
            <a:r>
              <a:rPr lang="en-US" sz="1000" b="1" dirty="0">
                <a:solidFill>
                  <a:srgbClr val="FFFFFF"/>
                </a:solidFill>
              </a:rPr>
              <a:t>Lesson #3 &amp; 4</a:t>
            </a:r>
            <a:endParaRPr lang="en-US" sz="1000" dirty="0"/>
          </a:p>
        </p:txBody>
      </p:sp>
      <p:sp>
        <p:nvSpPr>
          <p:cNvPr id="5" name="Text 3"/>
          <p:cNvSpPr/>
          <p:nvPr/>
        </p:nvSpPr>
        <p:spPr>
          <a:xfrm>
            <a:off x="320040" y="292608"/>
            <a:ext cx="7132320" cy="36576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Sensitive Data Disclosure + Insecure Cloud Configuration</a:t>
            </a:r>
            <a:endParaRPr lang="en-US" sz="2200" dirty="0"/>
          </a:p>
        </p:txBody>
      </p:sp>
      <p:sp>
        <p:nvSpPr>
          <p:cNvPr id="6" name="Shape 4"/>
          <p:cNvSpPr/>
          <p:nvPr/>
        </p:nvSpPr>
        <p:spPr>
          <a:xfrm>
            <a:off x="7406640" y="201168"/>
            <a:ext cx="1508760" cy="310896"/>
          </a:xfrm>
          <a:prstGeom prst="rect">
            <a:avLst/>
          </a:prstGeom>
          <a:solidFill>
            <a:srgbClr val="0F172A"/>
          </a:solidFill>
          <a:ln w="12700">
            <a:solidFill>
              <a:srgbClr val="0F172A"/>
            </a:solidFill>
            <a:prstDash val="solid"/>
          </a:ln>
        </p:spPr>
      </p:sp>
      <p:sp>
        <p:nvSpPr>
          <p:cNvPr id="7" name="Text 5"/>
          <p:cNvSpPr/>
          <p:nvPr/>
        </p:nvSpPr>
        <p:spPr>
          <a:xfrm>
            <a:off x="7406640" y="201168"/>
            <a:ext cx="1508760" cy="310896"/>
          </a:xfrm>
          <a:prstGeom prst="rect">
            <a:avLst/>
          </a:prstGeom>
          <a:noFill/>
          <a:ln/>
        </p:spPr>
        <p:txBody>
          <a:bodyPr wrap="square" lIns="0" tIns="0" rIns="0" bIns="0" rtlCol="0" anchor="ctr"/>
          <a:lstStyle/>
          <a:p>
            <a:pPr algn="ctr" indent="0" marL="0">
              <a:buNone/>
            </a:pPr>
            <a:r>
              <a:rPr lang="en-US" sz="800" b="1" dirty="0">
                <a:solidFill>
                  <a:srgbClr val="38BDF8"/>
                </a:solidFill>
              </a:rPr>
              <a:t>S3 Bucket / Lambda</a:t>
            </a:r>
            <a:endParaRPr lang="en-US" sz="800" dirty="0"/>
          </a:p>
        </p:txBody>
      </p:sp>
      <p:sp>
        <p:nvSpPr>
          <p:cNvPr id="8" name="Shape 6"/>
          <p:cNvSpPr/>
          <p:nvPr/>
        </p:nvSpPr>
        <p:spPr>
          <a:xfrm>
            <a:off x="0" y="4869180"/>
            <a:ext cx="9144000" cy="274320"/>
          </a:xfrm>
          <a:prstGeom prst="rect">
            <a:avLst/>
          </a:prstGeom>
          <a:solidFill>
            <a:srgbClr val="1E293B"/>
          </a:solidFill>
          <a:ln w="12700">
            <a:solidFill>
              <a:srgbClr val="1E293B"/>
            </a:solidFill>
            <a:prstDash val="solid"/>
          </a:ln>
        </p:spPr>
      </p:sp>
      <p:sp>
        <p:nvSpPr>
          <p:cNvPr id="9" name="Text 7"/>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10" name="Text 8"/>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9 / 15</a:t>
            </a:r>
            <a:endParaRPr lang="en-US" sz="700" dirty="0"/>
          </a:p>
        </p:txBody>
      </p:sp>
      <p:sp>
        <p:nvSpPr>
          <p:cNvPr id="11" name="Shape 9"/>
          <p:cNvSpPr/>
          <p:nvPr/>
        </p:nvSpPr>
        <p:spPr>
          <a:xfrm>
            <a:off x="228600" y="914400"/>
            <a:ext cx="4160520" cy="14173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228600" y="914400"/>
            <a:ext cx="50292" cy="1417320"/>
          </a:xfrm>
          <a:prstGeom prst="rect">
            <a:avLst/>
          </a:prstGeom>
          <a:solidFill>
            <a:srgbClr val="EA580C"/>
          </a:solidFill>
          <a:ln w="12700">
            <a:solidFill>
              <a:srgbClr val="EA580C"/>
            </a:solidFill>
            <a:prstDash val="solid"/>
          </a:ln>
        </p:spPr>
      </p:sp>
      <p:sp>
        <p:nvSpPr>
          <p:cNvPr id="13" name="Text 11"/>
          <p:cNvSpPr/>
          <p:nvPr/>
        </p:nvSpPr>
        <p:spPr>
          <a:xfrm>
            <a:off x="411480" y="960120"/>
            <a:ext cx="3840480" cy="274320"/>
          </a:xfrm>
          <a:prstGeom prst="rect">
            <a:avLst/>
          </a:prstGeom>
          <a:noFill/>
          <a:ln/>
        </p:spPr>
        <p:txBody>
          <a:bodyPr wrap="square" lIns="0" tIns="0" rIns="0" bIns="0" rtlCol="0" anchor="ctr"/>
          <a:lstStyle/>
          <a:p>
            <a:pPr indent="0" marL="0">
              <a:buNone/>
            </a:pPr>
            <a:r>
              <a:rPr lang="en-US" sz="1100" b="1" dirty="0">
                <a:solidFill>
                  <a:srgbClr val="EA580C"/>
                </a:solidFill>
              </a:rPr>
              <a:t>🔍  How It Works</a:t>
            </a:r>
            <a:endParaRPr lang="en-US" sz="1100" dirty="0"/>
          </a:p>
        </p:txBody>
      </p:sp>
      <p:sp>
        <p:nvSpPr>
          <p:cNvPr id="14" name="Text 12"/>
          <p:cNvSpPr/>
          <p:nvPr/>
        </p:nvSpPr>
        <p:spPr>
          <a:xfrm>
            <a:off x="411480" y="1234440"/>
            <a:ext cx="3840480" cy="1005840"/>
          </a:xfrm>
          <a:prstGeom prst="rect">
            <a:avLst/>
          </a:prstGeom>
          <a:noFill/>
          <a:ln/>
        </p:spPr>
        <p:txBody>
          <a:bodyPr wrap="square" lIns="0" tIns="0" rIns="0" bIns="0" rtlCol="0" anchor="ctr"/>
          <a:lstStyle/>
          <a:p>
            <a:pPr indent="0" marL="0">
              <a:buNone/>
            </a:pPr>
            <a:r>
              <a:rPr lang="en-US" sz="950" dirty="0">
                <a:solidFill>
                  <a:srgbClr val="1E293B"/>
                </a:solidFill>
              </a:rPr>
              <a:t>Lesson 3: DVSA-ADMIN-GET-RECEIPT generates a presigned S3 URL for any order-id without verifying that the caller owns that order — it never queries DynamoDB to compare the order's userId with the authenticated JWT identity.</a:t>
            </a:r>
            <a:endParaRPr lang="en-US" sz="950" dirty="0"/>
          </a:p>
          <a:p>
            <a:pPr indent="0" marL="0">
              <a:buNone/>
            </a:pPr>
            <a:endParaRPr lang="en-US" sz="950" dirty="0"/>
          </a:p>
          <a:p>
            <a:pPr indent="0" marL="0">
              <a:buNone/>
            </a:pPr>
            <a:r>
              <a:rPr lang="en-US" sz="950" dirty="0">
                <a:solidFill>
                  <a:srgbClr val="1E293B"/>
                </a:solidFill>
              </a:rPr>
              <a:t>Lesson 4: The receipts S3 bucket has no Block Public Access settings and a permissive policy, allowing unauthenticated writes that trigger the receipt Lambda via S3 events.</a:t>
            </a:r>
            <a:endParaRPr lang="en-US" sz="950" dirty="0"/>
          </a:p>
        </p:txBody>
      </p:sp>
      <p:sp>
        <p:nvSpPr>
          <p:cNvPr id="15" name="Shape 13"/>
          <p:cNvSpPr/>
          <p:nvPr/>
        </p:nvSpPr>
        <p:spPr>
          <a:xfrm>
            <a:off x="228600" y="2450592"/>
            <a:ext cx="4160520" cy="11704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228600" y="2450592"/>
            <a:ext cx="50292" cy="1170432"/>
          </a:xfrm>
          <a:prstGeom prst="rect">
            <a:avLst/>
          </a:prstGeom>
          <a:solidFill>
            <a:srgbClr val="DC2626"/>
          </a:solidFill>
          <a:ln w="12700">
            <a:solidFill>
              <a:srgbClr val="DC2626"/>
            </a:solidFill>
            <a:prstDash val="solid"/>
          </a:ln>
        </p:spPr>
      </p:sp>
      <p:sp>
        <p:nvSpPr>
          <p:cNvPr id="17" name="Text 15"/>
          <p:cNvSpPr/>
          <p:nvPr/>
        </p:nvSpPr>
        <p:spPr>
          <a:xfrm>
            <a:off x="411480" y="2496312"/>
            <a:ext cx="3840480" cy="274320"/>
          </a:xfrm>
          <a:prstGeom prst="rect">
            <a:avLst/>
          </a:prstGeom>
          <a:noFill/>
          <a:ln/>
        </p:spPr>
        <p:txBody>
          <a:bodyPr wrap="square" lIns="0" tIns="0" rIns="0" bIns="0" rtlCol="0" anchor="ctr"/>
          <a:lstStyle/>
          <a:p>
            <a:pPr indent="0" marL="0">
              <a:buNone/>
            </a:pPr>
            <a:r>
              <a:rPr lang="en-US" sz="1100" b="1" dirty="0">
                <a:solidFill>
                  <a:srgbClr val="DC2626"/>
                </a:solidFill>
              </a:rPr>
              <a:t>⚡  Exploit Path</a:t>
            </a:r>
            <a:endParaRPr lang="en-US" sz="1100" dirty="0"/>
          </a:p>
        </p:txBody>
      </p:sp>
      <p:sp>
        <p:nvSpPr>
          <p:cNvPr id="18" name="Text 16"/>
          <p:cNvSpPr/>
          <p:nvPr/>
        </p:nvSpPr>
        <p:spPr>
          <a:xfrm>
            <a:off x="411480" y="2770632"/>
            <a:ext cx="3840480" cy="804672"/>
          </a:xfrm>
          <a:prstGeom prst="rect">
            <a:avLst/>
          </a:prstGeom>
          <a:noFill/>
          <a:ln/>
        </p:spPr>
        <p:txBody>
          <a:bodyPr wrap="square" lIns="0" tIns="0" rIns="0" bIns="0" rtlCol="0" anchor="ctr"/>
          <a:lstStyle/>
          <a:p>
            <a:pPr indent="0" marL="0">
              <a:buNone/>
            </a:pPr>
            <a:r>
              <a:rPr lang="en-US" sz="950" dirty="0">
                <a:solidFill>
                  <a:srgbClr val="1E293B"/>
                </a:solidFill>
              </a:rPr>
              <a:t>L3: Attacker uses Lesson 2 exploit to get victim's order-id, then calls the receipt endpoint with their own token — receives a presigned URL for victim's receipt and downloads it.</a:t>
            </a:r>
            <a:endParaRPr lang="en-US" sz="950" dirty="0"/>
          </a:p>
          <a:p>
            <a:pPr indent="0" marL="0">
              <a:buNone/>
            </a:pPr>
            <a:endParaRPr lang="en-US" sz="950" dirty="0"/>
          </a:p>
          <a:p>
            <a:pPr indent="0" marL="0">
              <a:buNone/>
            </a:pPr>
            <a:r>
              <a:rPr lang="en-US" sz="950" dirty="0">
                <a:solidFill>
                  <a:srgbClr val="1E293B"/>
                </a:solidFill>
              </a:rPr>
              <a:t>L4: Attacker runs: aws s3 cp file.txt s3://[BUCKET]/path --no-sign-request. Upload succeeds and triggers DVSA-SEND-RECEIPT-EMAIL Lambda with attacker-controlled data.</a:t>
            </a:r>
            <a:endParaRPr lang="en-US" sz="950" dirty="0"/>
          </a:p>
        </p:txBody>
      </p:sp>
      <p:sp>
        <p:nvSpPr>
          <p:cNvPr id="19" name="Shape 17"/>
          <p:cNvSpPr/>
          <p:nvPr/>
        </p:nvSpPr>
        <p:spPr>
          <a:xfrm>
            <a:off x="4663440" y="914400"/>
            <a:ext cx="4251960" cy="14173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663440" y="914400"/>
            <a:ext cx="50292" cy="1417320"/>
          </a:xfrm>
          <a:prstGeom prst="rect">
            <a:avLst/>
          </a:prstGeom>
          <a:solidFill>
            <a:srgbClr val="16A34A"/>
          </a:solidFill>
          <a:ln w="12700">
            <a:solidFill>
              <a:srgbClr val="16A34A"/>
            </a:solidFill>
            <a:prstDash val="solid"/>
          </a:ln>
        </p:spPr>
      </p:sp>
      <p:sp>
        <p:nvSpPr>
          <p:cNvPr id="21" name="Text 19"/>
          <p:cNvSpPr/>
          <p:nvPr/>
        </p:nvSpPr>
        <p:spPr>
          <a:xfrm>
            <a:off x="4846320" y="960120"/>
            <a:ext cx="3931920" cy="274320"/>
          </a:xfrm>
          <a:prstGeom prst="rect">
            <a:avLst/>
          </a:prstGeom>
          <a:noFill/>
          <a:ln/>
        </p:spPr>
        <p:txBody>
          <a:bodyPr wrap="square" lIns="0" tIns="0" rIns="0" bIns="0" rtlCol="0" anchor="ctr"/>
          <a:lstStyle/>
          <a:p>
            <a:pPr indent="0" marL="0">
              <a:buNone/>
            </a:pPr>
            <a:r>
              <a:rPr lang="en-US" sz="1100" b="1" dirty="0">
                <a:solidFill>
                  <a:srgbClr val="16A34A"/>
                </a:solidFill>
              </a:rPr>
              <a:t>✅  Fix Applied</a:t>
            </a:r>
            <a:endParaRPr lang="en-US" sz="1100" dirty="0"/>
          </a:p>
        </p:txBody>
      </p:sp>
      <p:sp>
        <p:nvSpPr>
          <p:cNvPr id="22" name="Text 20"/>
          <p:cNvSpPr/>
          <p:nvPr/>
        </p:nvSpPr>
        <p:spPr>
          <a:xfrm>
            <a:off x="4846320" y="1234440"/>
            <a:ext cx="3931920" cy="1005840"/>
          </a:xfrm>
          <a:prstGeom prst="rect">
            <a:avLst/>
          </a:prstGeom>
          <a:noFill/>
          <a:ln/>
        </p:spPr>
        <p:txBody>
          <a:bodyPr wrap="square" lIns="0" tIns="0" rIns="0" bIns="0" rtlCol="0" anchor="ctr"/>
          <a:lstStyle/>
          <a:p>
            <a:pPr indent="0" marL="0">
              <a:buNone/>
            </a:pPr>
            <a:r>
              <a:rPr lang="en-US" sz="950" dirty="0">
                <a:solidFill>
                  <a:srgbClr val="1E293B"/>
                </a:solidFill>
              </a:rPr>
              <a:t>L3: Add DynamoDB ownership check before URL generation — compare order's userId with JWT sub. Return 403 if mismatch. Reduce presigned URL expiry to 5 minutes.</a:t>
            </a:r>
            <a:endParaRPr lang="en-US" sz="950" dirty="0"/>
          </a:p>
          <a:p>
            <a:pPr indent="0" marL="0">
              <a:buNone/>
            </a:pPr>
            <a:endParaRPr lang="en-US" sz="950" dirty="0"/>
          </a:p>
          <a:p>
            <a:pPr indent="0" marL="0">
              <a:buNone/>
            </a:pPr>
            <a:r>
              <a:rPr lang="en-US" sz="950" dirty="0">
                <a:solidFill>
                  <a:srgbClr val="1E293B"/>
                </a:solidFill>
              </a:rPr>
              <a:t>L4: Enable all 4 S3 Block Public Access settings. Replace permissive bucket policy with least-privilege policy scoped to authorized Lambda role ARNs only.</a:t>
            </a:r>
            <a:endParaRPr lang="en-US" sz="950" dirty="0"/>
          </a:p>
        </p:txBody>
      </p:sp>
      <p:sp>
        <p:nvSpPr>
          <p:cNvPr id="23" name="Shape 21"/>
          <p:cNvSpPr/>
          <p:nvPr/>
        </p:nvSpPr>
        <p:spPr>
          <a:xfrm>
            <a:off x="4663440" y="2450592"/>
            <a:ext cx="4251960" cy="11704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4" name="Shape 22"/>
          <p:cNvSpPr/>
          <p:nvPr/>
        </p:nvSpPr>
        <p:spPr>
          <a:xfrm>
            <a:off x="4663440" y="2450592"/>
            <a:ext cx="50292" cy="1170432"/>
          </a:xfrm>
          <a:prstGeom prst="rect">
            <a:avLst/>
          </a:prstGeom>
          <a:solidFill>
            <a:srgbClr val="EA580C"/>
          </a:solidFill>
          <a:ln w="12700">
            <a:solidFill>
              <a:srgbClr val="EA580C"/>
            </a:solidFill>
            <a:prstDash val="solid"/>
          </a:ln>
        </p:spPr>
      </p:sp>
      <p:sp>
        <p:nvSpPr>
          <p:cNvPr id="25" name="Text 23"/>
          <p:cNvSpPr/>
          <p:nvPr/>
        </p:nvSpPr>
        <p:spPr>
          <a:xfrm>
            <a:off x="4846320" y="2496312"/>
            <a:ext cx="3931920" cy="274320"/>
          </a:xfrm>
          <a:prstGeom prst="rect">
            <a:avLst/>
          </a:prstGeom>
          <a:noFill/>
          <a:ln/>
        </p:spPr>
        <p:txBody>
          <a:bodyPr wrap="square" lIns="0" tIns="0" rIns="0" bIns="0" rtlCol="0" anchor="ctr"/>
          <a:lstStyle/>
          <a:p>
            <a:pPr indent="0" marL="0">
              <a:buNone/>
            </a:pPr>
            <a:r>
              <a:rPr lang="en-US" sz="1100" b="1" dirty="0">
                <a:solidFill>
                  <a:srgbClr val="EA580C"/>
                </a:solidFill>
              </a:rPr>
              <a:t>💥  Security Impact</a:t>
            </a:r>
            <a:endParaRPr lang="en-US" sz="1100" dirty="0"/>
          </a:p>
        </p:txBody>
      </p:sp>
      <p:sp>
        <p:nvSpPr>
          <p:cNvPr id="26" name="Text 24"/>
          <p:cNvSpPr/>
          <p:nvPr/>
        </p:nvSpPr>
        <p:spPr>
          <a:xfrm>
            <a:off x="4846320" y="2770632"/>
            <a:ext cx="3931920" cy="804672"/>
          </a:xfrm>
          <a:prstGeom prst="rect">
            <a:avLst/>
          </a:prstGeom>
          <a:noFill/>
          <a:ln/>
        </p:spPr>
        <p:txBody>
          <a:bodyPr wrap="square" lIns="0" tIns="0" rIns="0" bIns="0" rtlCol="0" anchor="ctr"/>
          <a:lstStyle/>
          <a:p>
            <a:pPr indent="0" marL="0">
              <a:buNone/>
            </a:pPr>
            <a:r>
              <a:rPr lang="en-US" sz="950" dirty="0">
                <a:solidFill>
                  <a:srgbClr val="1E293B"/>
                </a:solidFill>
              </a:rPr>
              <a:t>L3: Any authenticated user can download any other user's private financial receipt documents.</a:t>
            </a:r>
            <a:endParaRPr lang="en-US" sz="950" dirty="0"/>
          </a:p>
          <a:p>
            <a:pPr indent="0" marL="0">
              <a:buNone/>
            </a:pPr>
            <a:endParaRPr lang="en-US" sz="950" dirty="0"/>
          </a:p>
          <a:p>
            <a:pPr indent="0" marL="0">
              <a:buNone/>
            </a:pPr>
            <a:r>
              <a:rPr lang="en-US" sz="950" dirty="0">
                <a:solidFill>
                  <a:srgbClr val="1E293B"/>
                </a:solidFill>
              </a:rPr>
              <a:t>L4: Any internet client can write arbitrary files to the receipts bucket, trigger Lambda functions with attacker-controlled content, and potentially pivot to further exploitation.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C2626"/>
          </a:solidFill>
          <a:ln w="12700">
            <a:solidFill>
              <a:srgbClr val="DC2626"/>
            </a:solidFill>
            <a:prstDash val="solid"/>
          </a:ln>
        </p:spPr>
      </p:sp>
      <p:sp>
        <p:nvSpPr>
          <p:cNvPr id="3" name="Shape 1"/>
          <p:cNvSpPr/>
          <p:nvPr/>
        </p:nvSpPr>
        <p:spPr>
          <a:xfrm>
            <a:off x="0" y="54864"/>
            <a:ext cx="9144000" cy="658368"/>
          </a:xfrm>
          <a:prstGeom prst="rect">
            <a:avLst/>
          </a:prstGeom>
          <a:solidFill>
            <a:srgbClr val="DC2626"/>
          </a:solidFill>
          <a:ln w="12700">
            <a:solidFill>
              <a:srgbClr val="DC2626"/>
            </a:solidFill>
            <a:prstDash val="solid"/>
          </a:ln>
        </p:spPr>
      </p:sp>
      <p:sp>
        <p:nvSpPr>
          <p:cNvPr id="4" name="Text 2"/>
          <p:cNvSpPr/>
          <p:nvPr/>
        </p:nvSpPr>
        <p:spPr>
          <a:xfrm>
            <a:off x="320040" y="91440"/>
            <a:ext cx="1645920" cy="228600"/>
          </a:xfrm>
          <a:prstGeom prst="rect">
            <a:avLst/>
          </a:prstGeom>
          <a:noFill/>
          <a:ln/>
        </p:spPr>
        <p:txBody>
          <a:bodyPr wrap="square" lIns="0" tIns="0" rIns="0" bIns="0" rtlCol="0" anchor="ctr"/>
          <a:lstStyle/>
          <a:p>
            <a:pPr indent="0" marL="0">
              <a:buNone/>
            </a:pPr>
            <a:r>
              <a:rPr lang="en-US" sz="1000" b="1" dirty="0">
                <a:solidFill>
                  <a:srgbClr val="FFFFFF"/>
                </a:solidFill>
              </a:rPr>
              <a:t>Lesson #5</a:t>
            </a:r>
            <a:endParaRPr lang="en-US" sz="1000" dirty="0"/>
          </a:p>
        </p:txBody>
      </p:sp>
      <p:sp>
        <p:nvSpPr>
          <p:cNvPr id="5" name="Text 3"/>
          <p:cNvSpPr/>
          <p:nvPr/>
        </p:nvSpPr>
        <p:spPr>
          <a:xfrm>
            <a:off x="320040" y="292608"/>
            <a:ext cx="7132320" cy="36576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Broken Access Control — Payment Bypass</a:t>
            </a:r>
            <a:endParaRPr lang="en-US" sz="2200" dirty="0"/>
          </a:p>
        </p:txBody>
      </p:sp>
      <p:sp>
        <p:nvSpPr>
          <p:cNvPr id="6" name="Shape 4"/>
          <p:cNvSpPr/>
          <p:nvPr/>
        </p:nvSpPr>
        <p:spPr>
          <a:xfrm>
            <a:off x="7406640" y="201168"/>
            <a:ext cx="1508760" cy="310896"/>
          </a:xfrm>
          <a:prstGeom prst="rect">
            <a:avLst/>
          </a:prstGeom>
          <a:solidFill>
            <a:srgbClr val="0F172A"/>
          </a:solidFill>
          <a:ln w="12700">
            <a:solidFill>
              <a:srgbClr val="0F172A"/>
            </a:solidFill>
            <a:prstDash val="solid"/>
          </a:ln>
        </p:spPr>
      </p:sp>
      <p:sp>
        <p:nvSpPr>
          <p:cNvPr id="7" name="Text 5"/>
          <p:cNvSpPr/>
          <p:nvPr/>
        </p:nvSpPr>
        <p:spPr>
          <a:xfrm>
            <a:off x="7406640" y="201168"/>
            <a:ext cx="1508760" cy="310896"/>
          </a:xfrm>
          <a:prstGeom prst="rect">
            <a:avLst/>
          </a:prstGeom>
          <a:noFill/>
          <a:ln/>
        </p:spPr>
        <p:txBody>
          <a:bodyPr wrap="square" lIns="0" tIns="0" rIns="0" bIns="0" rtlCol="0" anchor="ctr"/>
          <a:lstStyle/>
          <a:p>
            <a:pPr algn="ctr" indent="0" marL="0">
              <a:buNone/>
            </a:pPr>
            <a:r>
              <a:rPr lang="en-US" sz="800" b="1" dirty="0">
                <a:solidFill>
                  <a:srgbClr val="38BDF8"/>
                </a:solidFill>
              </a:rPr>
              <a:t>DVSA-ADMIN-UPDATE-ORDERS</a:t>
            </a:r>
            <a:endParaRPr lang="en-US" sz="800" dirty="0"/>
          </a:p>
        </p:txBody>
      </p:sp>
      <p:sp>
        <p:nvSpPr>
          <p:cNvPr id="8" name="Shape 6"/>
          <p:cNvSpPr/>
          <p:nvPr/>
        </p:nvSpPr>
        <p:spPr>
          <a:xfrm>
            <a:off x="0" y="4869180"/>
            <a:ext cx="9144000" cy="274320"/>
          </a:xfrm>
          <a:prstGeom prst="rect">
            <a:avLst/>
          </a:prstGeom>
          <a:solidFill>
            <a:srgbClr val="1E293B"/>
          </a:solidFill>
          <a:ln w="12700">
            <a:solidFill>
              <a:srgbClr val="1E293B"/>
            </a:solidFill>
            <a:prstDash val="solid"/>
          </a:ln>
        </p:spPr>
      </p:sp>
      <p:sp>
        <p:nvSpPr>
          <p:cNvPr id="9" name="Text 7"/>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10" name="Text 8"/>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10 / 15</a:t>
            </a:r>
            <a:endParaRPr lang="en-US" sz="700" dirty="0"/>
          </a:p>
        </p:txBody>
      </p:sp>
      <p:sp>
        <p:nvSpPr>
          <p:cNvPr id="11" name="Shape 9"/>
          <p:cNvSpPr/>
          <p:nvPr/>
        </p:nvSpPr>
        <p:spPr>
          <a:xfrm>
            <a:off x="228600" y="914400"/>
            <a:ext cx="4160520" cy="14173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228600" y="914400"/>
            <a:ext cx="50292" cy="1417320"/>
          </a:xfrm>
          <a:prstGeom prst="rect">
            <a:avLst/>
          </a:prstGeom>
          <a:solidFill>
            <a:srgbClr val="DC2626"/>
          </a:solidFill>
          <a:ln w="12700">
            <a:solidFill>
              <a:srgbClr val="DC2626"/>
            </a:solidFill>
            <a:prstDash val="solid"/>
          </a:ln>
        </p:spPr>
      </p:sp>
      <p:sp>
        <p:nvSpPr>
          <p:cNvPr id="13" name="Text 11"/>
          <p:cNvSpPr/>
          <p:nvPr/>
        </p:nvSpPr>
        <p:spPr>
          <a:xfrm>
            <a:off x="411480" y="960120"/>
            <a:ext cx="3840480" cy="274320"/>
          </a:xfrm>
          <a:prstGeom prst="rect">
            <a:avLst/>
          </a:prstGeom>
          <a:noFill/>
          <a:ln/>
        </p:spPr>
        <p:txBody>
          <a:bodyPr wrap="square" lIns="0" tIns="0" rIns="0" bIns="0" rtlCol="0" anchor="ctr"/>
          <a:lstStyle/>
          <a:p>
            <a:pPr indent="0" marL="0">
              <a:buNone/>
            </a:pPr>
            <a:r>
              <a:rPr lang="en-US" sz="1100" b="1" dirty="0">
                <a:solidFill>
                  <a:srgbClr val="DC2626"/>
                </a:solidFill>
              </a:rPr>
              <a:t>🔍  How It Works</a:t>
            </a:r>
            <a:endParaRPr lang="en-US" sz="1100" dirty="0"/>
          </a:p>
        </p:txBody>
      </p:sp>
      <p:sp>
        <p:nvSpPr>
          <p:cNvPr id="14" name="Text 12"/>
          <p:cNvSpPr/>
          <p:nvPr/>
        </p:nvSpPr>
        <p:spPr>
          <a:xfrm>
            <a:off x="411480" y="1234440"/>
            <a:ext cx="3840480" cy="1005840"/>
          </a:xfrm>
          <a:prstGeom prst="rect">
            <a:avLst/>
          </a:prstGeom>
          <a:noFill/>
          <a:ln/>
        </p:spPr>
        <p:txBody>
          <a:bodyPr wrap="square" lIns="0" tIns="0" rIns="0" bIns="0" rtlCol="0" anchor="ctr"/>
          <a:lstStyle/>
          <a:p>
            <a:pPr indent="0" marL="0">
              <a:buNone/>
            </a:pPr>
            <a:r>
              <a:rPr lang="en-US" sz="950" dirty="0">
                <a:solidFill>
                  <a:srgbClr val="1E293B"/>
                </a:solidFill>
              </a:rPr>
              <a:t>The application is designed so orders progress new → shipped → paid only after real payment. However, DVSA-ADMIN-UPDATE-ORDERS (which writes 'paid' status to DynamoDB) can be reached from the public billing API path without verifying that actual payment processing succeeded. No server-side state transition validation exists.</a:t>
            </a:r>
            <a:endParaRPr lang="en-US" sz="950" dirty="0"/>
          </a:p>
        </p:txBody>
      </p:sp>
      <p:sp>
        <p:nvSpPr>
          <p:cNvPr id="15" name="Shape 13"/>
          <p:cNvSpPr/>
          <p:nvPr/>
        </p:nvSpPr>
        <p:spPr>
          <a:xfrm>
            <a:off x="228600" y="2450592"/>
            <a:ext cx="4160520" cy="11704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228600" y="2450592"/>
            <a:ext cx="50292" cy="1170432"/>
          </a:xfrm>
          <a:prstGeom prst="rect">
            <a:avLst/>
          </a:prstGeom>
          <a:solidFill>
            <a:srgbClr val="DC2626"/>
          </a:solidFill>
          <a:ln w="12700">
            <a:solidFill>
              <a:srgbClr val="DC2626"/>
            </a:solidFill>
            <a:prstDash val="solid"/>
          </a:ln>
        </p:spPr>
      </p:sp>
      <p:sp>
        <p:nvSpPr>
          <p:cNvPr id="17" name="Text 15"/>
          <p:cNvSpPr/>
          <p:nvPr/>
        </p:nvSpPr>
        <p:spPr>
          <a:xfrm>
            <a:off x="411480" y="2496312"/>
            <a:ext cx="3840480" cy="274320"/>
          </a:xfrm>
          <a:prstGeom prst="rect">
            <a:avLst/>
          </a:prstGeom>
          <a:noFill/>
          <a:ln/>
        </p:spPr>
        <p:txBody>
          <a:bodyPr wrap="square" lIns="0" tIns="0" rIns="0" bIns="0" rtlCol="0" anchor="ctr"/>
          <a:lstStyle/>
          <a:p>
            <a:pPr indent="0" marL="0">
              <a:buNone/>
            </a:pPr>
            <a:r>
              <a:rPr lang="en-US" sz="1100" b="1" dirty="0">
                <a:solidFill>
                  <a:srgbClr val="DC2626"/>
                </a:solidFill>
              </a:rPr>
              <a:t>⚡  Exploit Path</a:t>
            </a:r>
            <a:endParaRPr lang="en-US" sz="1100" dirty="0"/>
          </a:p>
        </p:txBody>
      </p:sp>
      <p:sp>
        <p:nvSpPr>
          <p:cNvPr id="18" name="Text 16"/>
          <p:cNvSpPr/>
          <p:nvPr/>
        </p:nvSpPr>
        <p:spPr>
          <a:xfrm>
            <a:off x="411480" y="2770632"/>
            <a:ext cx="3840480" cy="804672"/>
          </a:xfrm>
          <a:prstGeom prst="rect">
            <a:avLst/>
          </a:prstGeom>
          <a:noFill/>
          <a:ln/>
        </p:spPr>
        <p:txBody>
          <a:bodyPr wrap="square" lIns="0" tIns="0" rIns="0" bIns="0" rtlCol="0" anchor="ctr"/>
          <a:lstStyle/>
          <a:p>
            <a:pPr indent="0" marL="0">
              <a:buNone/>
            </a:pPr>
            <a:r>
              <a:rPr lang="en-US" sz="950" dirty="0">
                <a:solidFill>
                  <a:srgbClr val="1E293B"/>
                </a:solidFill>
              </a:rPr>
              <a:t>Attacker places an order and advances it to shipped state. They then send a billing request to the /order API endpoint which internally invokes DVSA-ADMIN-UPDATE-ORDERS. The admin function marks the order as 'paid' with no real payment charged. Total cost: $0.</a:t>
            </a:r>
            <a:endParaRPr lang="en-US" sz="950" dirty="0"/>
          </a:p>
        </p:txBody>
      </p:sp>
      <p:sp>
        <p:nvSpPr>
          <p:cNvPr id="19" name="Shape 17"/>
          <p:cNvSpPr/>
          <p:nvPr/>
        </p:nvSpPr>
        <p:spPr>
          <a:xfrm>
            <a:off x="4663440" y="914400"/>
            <a:ext cx="4251960" cy="14173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663440" y="914400"/>
            <a:ext cx="50292" cy="1417320"/>
          </a:xfrm>
          <a:prstGeom prst="rect">
            <a:avLst/>
          </a:prstGeom>
          <a:solidFill>
            <a:srgbClr val="16A34A"/>
          </a:solidFill>
          <a:ln w="12700">
            <a:solidFill>
              <a:srgbClr val="16A34A"/>
            </a:solidFill>
            <a:prstDash val="solid"/>
          </a:ln>
        </p:spPr>
      </p:sp>
      <p:sp>
        <p:nvSpPr>
          <p:cNvPr id="21" name="Text 19"/>
          <p:cNvSpPr/>
          <p:nvPr/>
        </p:nvSpPr>
        <p:spPr>
          <a:xfrm>
            <a:off x="4846320" y="960120"/>
            <a:ext cx="3931920" cy="274320"/>
          </a:xfrm>
          <a:prstGeom prst="rect">
            <a:avLst/>
          </a:prstGeom>
          <a:noFill/>
          <a:ln/>
        </p:spPr>
        <p:txBody>
          <a:bodyPr wrap="square" lIns="0" tIns="0" rIns="0" bIns="0" rtlCol="0" anchor="ctr"/>
          <a:lstStyle/>
          <a:p>
            <a:pPr indent="0" marL="0">
              <a:buNone/>
            </a:pPr>
            <a:r>
              <a:rPr lang="en-US" sz="1100" b="1" dirty="0">
                <a:solidFill>
                  <a:srgbClr val="16A34A"/>
                </a:solidFill>
              </a:rPr>
              <a:t>✅  Fix Applied</a:t>
            </a:r>
            <a:endParaRPr lang="en-US" sz="1100" dirty="0"/>
          </a:p>
        </p:txBody>
      </p:sp>
      <p:sp>
        <p:nvSpPr>
          <p:cNvPr id="22" name="Text 20"/>
          <p:cNvSpPr/>
          <p:nvPr/>
        </p:nvSpPr>
        <p:spPr>
          <a:xfrm>
            <a:off x="4846320" y="1234440"/>
            <a:ext cx="3931920" cy="1005840"/>
          </a:xfrm>
          <a:prstGeom prst="rect">
            <a:avLst/>
          </a:prstGeom>
          <a:noFill/>
          <a:ln/>
        </p:spPr>
        <p:txBody>
          <a:bodyPr wrap="square" lIns="0" tIns="0" rIns="0" bIns="0" rtlCol="0" anchor="ctr"/>
          <a:lstStyle/>
          <a:p>
            <a:pPr indent="0" marL="0">
              <a:buNone/>
            </a:pPr>
            <a:r>
              <a:rPr lang="en-US" sz="950" dirty="0">
                <a:solidFill>
                  <a:srgbClr val="1E293B"/>
                </a:solidFill>
              </a:rPr>
              <a:t>Add DynamoDB state validation in billing Lambda: check order must be in 'shipped' state before invoking admin update. In DVSA-ADMIN-UPDATE-ORDERS: reject invocations arriving via API Gateway (event.requestContext present). Only legitimate internal Lambda calls proceed.</a:t>
            </a:r>
            <a:endParaRPr lang="en-US" sz="950" dirty="0"/>
          </a:p>
        </p:txBody>
      </p:sp>
      <p:sp>
        <p:nvSpPr>
          <p:cNvPr id="23" name="Shape 21"/>
          <p:cNvSpPr/>
          <p:nvPr/>
        </p:nvSpPr>
        <p:spPr>
          <a:xfrm>
            <a:off x="4663440" y="2450592"/>
            <a:ext cx="4251960" cy="11704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4" name="Shape 22"/>
          <p:cNvSpPr/>
          <p:nvPr/>
        </p:nvSpPr>
        <p:spPr>
          <a:xfrm>
            <a:off x="4663440" y="2450592"/>
            <a:ext cx="50292" cy="1170432"/>
          </a:xfrm>
          <a:prstGeom prst="rect">
            <a:avLst/>
          </a:prstGeom>
          <a:solidFill>
            <a:srgbClr val="EA580C"/>
          </a:solidFill>
          <a:ln w="12700">
            <a:solidFill>
              <a:srgbClr val="EA580C"/>
            </a:solidFill>
            <a:prstDash val="solid"/>
          </a:ln>
        </p:spPr>
      </p:sp>
      <p:sp>
        <p:nvSpPr>
          <p:cNvPr id="25" name="Text 23"/>
          <p:cNvSpPr/>
          <p:nvPr/>
        </p:nvSpPr>
        <p:spPr>
          <a:xfrm>
            <a:off x="4846320" y="2496312"/>
            <a:ext cx="3931920" cy="274320"/>
          </a:xfrm>
          <a:prstGeom prst="rect">
            <a:avLst/>
          </a:prstGeom>
          <a:noFill/>
          <a:ln/>
        </p:spPr>
        <p:txBody>
          <a:bodyPr wrap="square" lIns="0" tIns="0" rIns="0" bIns="0" rtlCol="0" anchor="ctr"/>
          <a:lstStyle/>
          <a:p>
            <a:pPr indent="0" marL="0">
              <a:buNone/>
            </a:pPr>
            <a:r>
              <a:rPr lang="en-US" sz="1100" b="1" dirty="0">
                <a:solidFill>
                  <a:srgbClr val="EA580C"/>
                </a:solidFill>
              </a:rPr>
              <a:t>💥  Security Impact</a:t>
            </a:r>
            <a:endParaRPr lang="en-US" sz="1100" dirty="0"/>
          </a:p>
        </p:txBody>
      </p:sp>
      <p:sp>
        <p:nvSpPr>
          <p:cNvPr id="26" name="Text 24"/>
          <p:cNvSpPr/>
          <p:nvPr/>
        </p:nvSpPr>
        <p:spPr>
          <a:xfrm>
            <a:off x="4846320" y="2770632"/>
            <a:ext cx="3931920" cy="804672"/>
          </a:xfrm>
          <a:prstGeom prst="rect">
            <a:avLst/>
          </a:prstGeom>
          <a:noFill/>
          <a:ln/>
        </p:spPr>
        <p:txBody>
          <a:bodyPr wrap="square" lIns="0" tIns="0" rIns="0" bIns="0" rtlCol="0" anchor="ctr"/>
          <a:lstStyle/>
          <a:p>
            <a:pPr indent="0" marL="0">
              <a:buNone/>
            </a:pPr>
            <a:r>
              <a:rPr lang="en-US" sz="950" dirty="0">
                <a:solidFill>
                  <a:srgbClr val="1E293B"/>
                </a:solidFill>
              </a:rPr>
              <a:t>Attacker receives goods/services for free by bypassing the entire payment system. In a real application this would represent direct financial fraud. All orders for any authenticated user can be marked as paid without payment.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6A34A"/>
          </a:solidFill>
          <a:ln w="12700">
            <a:solidFill>
              <a:srgbClr val="16A34A"/>
            </a:solidFill>
            <a:prstDash val="solid"/>
          </a:ln>
        </p:spPr>
      </p:sp>
      <p:sp>
        <p:nvSpPr>
          <p:cNvPr id="3" name="Shape 1"/>
          <p:cNvSpPr/>
          <p:nvPr/>
        </p:nvSpPr>
        <p:spPr>
          <a:xfrm>
            <a:off x="365760" y="640080"/>
            <a:ext cx="1554480" cy="256032"/>
          </a:xfrm>
          <a:prstGeom prst="roundRect">
            <a:avLst>
              <a:gd name="adj" fmla="val 50000"/>
            </a:avLst>
          </a:prstGeom>
          <a:solidFill>
            <a:srgbClr val="38BDF8"/>
          </a:solidFill>
          <a:ln w="12700">
            <a:solidFill>
              <a:srgbClr val="38BDF8"/>
            </a:solidFill>
            <a:prstDash val="solid"/>
          </a:ln>
        </p:spPr>
      </p:sp>
      <p:sp>
        <p:nvSpPr>
          <p:cNvPr id="4" name="Text 2"/>
          <p:cNvSpPr/>
          <p:nvPr/>
        </p:nvSpPr>
        <p:spPr>
          <a:xfrm>
            <a:off x="365760" y="640080"/>
            <a:ext cx="1554480" cy="256032"/>
          </a:xfrm>
          <a:prstGeom prst="rect">
            <a:avLst/>
          </a:prstGeom>
          <a:noFill/>
          <a:ln/>
        </p:spPr>
        <p:txBody>
          <a:bodyPr wrap="square" lIns="0" tIns="0" rIns="0" bIns="0" rtlCol="0" anchor="ctr"/>
          <a:lstStyle/>
          <a:p>
            <a:pPr algn="ctr" indent="0" marL="0">
              <a:buNone/>
            </a:pPr>
            <a:r>
              <a:rPr lang="en-US" sz="800" b="1" dirty="0">
                <a:solidFill>
                  <a:srgbClr val="0F172A"/>
                </a:solidFill>
              </a:rPr>
              <a:t>LESSONS 6 · 7 · 8</a:t>
            </a:r>
            <a:endParaRPr lang="en-US" sz="800" dirty="0"/>
          </a:p>
        </p:txBody>
      </p:sp>
      <p:sp>
        <p:nvSpPr>
          <p:cNvPr id="5" name="Text 3"/>
          <p:cNvSpPr/>
          <p:nvPr/>
        </p:nvSpPr>
        <p:spPr>
          <a:xfrm>
            <a:off x="365760" y="960120"/>
            <a:ext cx="5943600" cy="1737360"/>
          </a:xfrm>
          <a:prstGeom prst="rect">
            <a:avLst/>
          </a:prstGeom>
          <a:noFill/>
          <a:ln/>
        </p:spPr>
        <p:txBody>
          <a:bodyPr wrap="square" rtlCol="0" anchor="ctr"/>
          <a:lstStyle/>
          <a:p>
            <a:pPr indent="0" marL="0">
              <a:buNone/>
            </a:pPr>
            <a:r>
              <a:rPr lang="en-US" sz="3400" b="1" dirty="0">
                <a:solidFill>
                  <a:srgbClr val="FFFFFF"/>
                </a:solidFill>
                <a:latin typeface="Arial Black" pitchFamily="34" charset="0"/>
                <a:ea typeface="Arial Black" pitchFamily="34" charset="-122"/>
                <a:cs typeface="Arial Black" pitchFamily="34" charset="-120"/>
              </a:rPr>
              <a:t>DoS · Over-Privileged</a:t>
            </a:r>
            <a:endParaRPr lang="en-US" sz="3400" dirty="0"/>
          </a:p>
          <a:p>
            <a:pPr indent="0" marL="0">
              <a:buNone/>
            </a:pPr>
            <a:r>
              <a:rPr lang="en-US" sz="3400" b="1" dirty="0">
                <a:solidFill>
                  <a:srgbClr val="FFFFFF"/>
                </a:solidFill>
                <a:latin typeface="Arial Black" pitchFamily="34" charset="0"/>
                <a:ea typeface="Arial Black" pitchFamily="34" charset="-122"/>
                <a:cs typeface="Arial Black" pitchFamily="34" charset="-120"/>
              </a:rPr>
              <a:t>Functions · Race Condition</a:t>
            </a:r>
            <a:endParaRPr lang="en-US" sz="3400" dirty="0"/>
          </a:p>
        </p:txBody>
      </p:sp>
      <p:sp>
        <p:nvSpPr>
          <p:cNvPr id="6" name="Text 4"/>
          <p:cNvSpPr/>
          <p:nvPr/>
        </p:nvSpPr>
        <p:spPr>
          <a:xfrm>
            <a:off x="365760" y="2834640"/>
            <a:ext cx="5943600" cy="548640"/>
          </a:xfrm>
          <a:prstGeom prst="rect">
            <a:avLst/>
          </a:prstGeom>
          <a:noFill/>
          <a:ln/>
        </p:spPr>
        <p:txBody>
          <a:bodyPr wrap="square" rtlCol="0" anchor="ctr"/>
          <a:lstStyle/>
          <a:p>
            <a:pPr indent="0" marL="0">
              <a:buNone/>
            </a:pPr>
            <a:r>
              <a:rPr lang="en-US" sz="1200" dirty="0">
                <a:solidFill>
                  <a:srgbClr val="94A3B8"/>
                </a:solidFill>
              </a:rPr>
              <a:t>Three distinct attack classes targeting availability, IAM permissions, and business logic integrity.</a:t>
            </a:r>
            <a:endParaRPr lang="en-US" sz="1200" dirty="0"/>
          </a:p>
        </p:txBody>
      </p:sp>
      <p:sp>
        <p:nvSpPr>
          <p:cNvPr id="7" name="Shape 5"/>
          <p:cNvSpPr/>
          <p:nvPr/>
        </p:nvSpPr>
        <p:spPr>
          <a:xfrm>
            <a:off x="6446520" y="777240"/>
            <a:ext cx="2468880" cy="114300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6446520" y="777240"/>
            <a:ext cx="54864" cy="1143000"/>
          </a:xfrm>
          <a:prstGeom prst="rect">
            <a:avLst/>
          </a:prstGeom>
          <a:solidFill>
            <a:srgbClr val="EA580C"/>
          </a:solidFill>
          <a:ln w="12700">
            <a:solidFill>
              <a:srgbClr val="EA580C"/>
            </a:solidFill>
            <a:prstDash val="solid"/>
          </a:ln>
        </p:spPr>
      </p:sp>
      <p:sp>
        <p:nvSpPr>
          <p:cNvPr id="9" name="Text 7"/>
          <p:cNvSpPr/>
          <p:nvPr/>
        </p:nvSpPr>
        <p:spPr>
          <a:xfrm>
            <a:off x="6583680" y="850392"/>
            <a:ext cx="2194560" cy="320040"/>
          </a:xfrm>
          <a:prstGeom prst="rect">
            <a:avLst/>
          </a:prstGeom>
          <a:noFill/>
          <a:ln/>
        </p:spPr>
        <p:txBody>
          <a:bodyPr wrap="square" lIns="0" tIns="0" rIns="0" bIns="0" rtlCol="0" anchor="ctr"/>
          <a:lstStyle/>
          <a:p>
            <a:pPr indent="0" marL="0">
              <a:buNone/>
            </a:pPr>
            <a:r>
              <a:rPr lang="en-US" sz="1100" b="1" dirty="0">
                <a:solidFill>
                  <a:srgbClr val="EA580C"/>
                </a:solidFill>
              </a:rPr>
              <a:t>Lesson 6 — DoS</a:t>
            </a:r>
            <a:endParaRPr lang="en-US" sz="1100" dirty="0"/>
          </a:p>
        </p:txBody>
      </p:sp>
      <p:sp>
        <p:nvSpPr>
          <p:cNvPr id="10" name="Text 8"/>
          <p:cNvSpPr/>
          <p:nvPr/>
        </p:nvSpPr>
        <p:spPr>
          <a:xfrm>
            <a:off x="6583680" y="1188720"/>
            <a:ext cx="2194560" cy="548640"/>
          </a:xfrm>
          <a:prstGeom prst="rect">
            <a:avLst/>
          </a:prstGeom>
          <a:noFill/>
          <a:ln/>
        </p:spPr>
        <p:txBody>
          <a:bodyPr wrap="square" lIns="0" tIns="0" rIns="0" bIns="0" rtlCol="0" anchor="ctr"/>
          <a:lstStyle/>
          <a:p>
            <a:pPr indent="0" marL="0">
              <a:buNone/>
            </a:pPr>
            <a:r>
              <a:rPr lang="en-US" sz="1000" dirty="0">
                <a:solidFill>
                  <a:srgbClr val="94A3B8"/>
                </a:solidFill>
              </a:rPr>
              <a:t>50 concurrent requests</a:t>
            </a:r>
            <a:endParaRPr lang="en-US" sz="1000" dirty="0"/>
          </a:p>
          <a:p>
            <a:pPr indent="0" marL="0">
              <a:buNone/>
            </a:pPr>
            <a:r>
              <a:rPr lang="en-US" sz="1000" dirty="0">
                <a:solidFill>
                  <a:srgbClr val="94A3B8"/>
                </a:solidFill>
              </a:rPr>
              <a:t>saturate Lambda pool</a:t>
            </a:r>
            <a:endParaRPr lang="en-US" sz="1000" dirty="0"/>
          </a:p>
        </p:txBody>
      </p:sp>
      <p:sp>
        <p:nvSpPr>
          <p:cNvPr id="11" name="Shape 9"/>
          <p:cNvSpPr/>
          <p:nvPr/>
        </p:nvSpPr>
        <p:spPr>
          <a:xfrm>
            <a:off x="6446520" y="2130552"/>
            <a:ext cx="2468880" cy="114300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6446520" y="2130552"/>
            <a:ext cx="54864" cy="1143000"/>
          </a:xfrm>
          <a:prstGeom prst="rect">
            <a:avLst/>
          </a:prstGeom>
          <a:solidFill>
            <a:srgbClr val="DC2626"/>
          </a:solidFill>
          <a:ln w="12700">
            <a:solidFill>
              <a:srgbClr val="DC2626"/>
            </a:solidFill>
            <a:prstDash val="solid"/>
          </a:ln>
        </p:spPr>
      </p:sp>
      <p:sp>
        <p:nvSpPr>
          <p:cNvPr id="13" name="Text 11"/>
          <p:cNvSpPr/>
          <p:nvPr/>
        </p:nvSpPr>
        <p:spPr>
          <a:xfrm>
            <a:off x="6583680" y="2203704"/>
            <a:ext cx="2194560" cy="320040"/>
          </a:xfrm>
          <a:prstGeom prst="rect">
            <a:avLst/>
          </a:prstGeom>
          <a:noFill/>
          <a:ln/>
        </p:spPr>
        <p:txBody>
          <a:bodyPr wrap="square" lIns="0" tIns="0" rIns="0" bIns="0" rtlCol="0" anchor="ctr"/>
          <a:lstStyle/>
          <a:p>
            <a:pPr indent="0" marL="0">
              <a:buNone/>
            </a:pPr>
            <a:r>
              <a:rPr lang="en-US" sz="1100" b="1" dirty="0">
                <a:solidFill>
                  <a:srgbClr val="DC2626"/>
                </a:solidFill>
              </a:rPr>
              <a:t>Lesson 7 — Over-Priv</a:t>
            </a:r>
            <a:endParaRPr lang="en-US" sz="1100" dirty="0"/>
          </a:p>
        </p:txBody>
      </p:sp>
      <p:sp>
        <p:nvSpPr>
          <p:cNvPr id="14" name="Text 12"/>
          <p:cNvSpPr/>
          <p:nvPr/>
        </p:nvSpPr>
        <p:spPr>
          <a:xfrm>
            <a:off x="6583680" y="2542032"/>
            <a:ext cx="2194560" cy="548640"/>
          </a:xfrm>
          <a:prstGeom prst="rect">
            <a:avLst/>
          </a:prstGeom>
          <a:noFill/>
          <a:ln/>
        </p:spPr>
        <p:txBody>
          <a:bodyPr wrap="square" lIns="0" tIns="0" rIns="0" bIns="0" rtlCol="0" anchor="ctr"/>
          <a:lstStyle/>
          <a:p>
            <a:pPr indent="0" marL="0">
              <a:buNone/>
            </a:pPr>
            <a:r>
              <a:rPr lang="en-US" sz="1000" dirty="0">
                <a:solidFill>
                  <a:srgbClr val="94A3B8"/>
                </a:solidFill>
              </a:rPr>
              <a:t>Wildcard IAM role exposes</a:t>
            </a:r>
            <a:endParaRPr lang="en-US" sz="1000" dirty="0"/>
          </a:p>
          <a:p>
            <a:pPr indent="0" marL="0">
              <a:buNone/>
            </a:pPr>
            <a:r>
              <a:rPr lang="en-US" sz="1000" dirty="0">
                <a:solidFill>
                  <a:srgbClr val="94A3B8"/>
                </a:solidFill>
              </a:rPr>
              <a:t>all DynamoDB tables</a:t>
            </a:r>
            <a:endParaRPr lang="en-US" sz="1000" dirty="0"/>
          </a:p>
        </p:txBody>
      </p:sp>
      <p:sp>
        <p:nvSpPr>
          <p:cNvPr id="15" name="Shape 13"/>
          <p:cNvSpPr/>
          <p:nvPr/>
        </p:nvSpPr>
        <p:spPr>
          <a:xfrm>
            <a:off x="6446520" y="3483864"/>
            <a:ext cx="2468880" cy="114300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6446520" y="3483864"/>
            <a:ext cx="54864" cy="1143000"/>
          </a:xfrm>
          <a:prstGeom prst="rect">
            <a:avLst/>
          </a:prstGeom>
          <a:solidFill>
            <a:srgbClr val="1E3A8A"/>
          </a:solidFill>
          <a:ln w="12700">
            <a:solidFill>
              <a:srgbClr val="1E3A8A"/>
            </a:solidFill>
            <a:prstDash val="solid"/>
          </a:ln>
        </p:spPr>
      </p:sp>
      <p:sp>
        <p:nvSpPr>
          <p:cNvPr id="17" name="Text 15"/>
          <p:cNvSpPr/>
          <p:nvPr/>
        </p:nvSpPr>
        <p:spPr>
          <a:xfrm>
            <a:off x="6583680" y="3557016"/>
            <a:ext cx="2194560" cy="320040"/>
          </a:xfrm>
          <a:prstGeom prst="rect">
            <a:avLst/>
          </a:prstGeom>
          <a:noFill/>
          <a:ln/>
        </p:spPr>
        <p:txBody>
          <a:bodyPr wrap="square" lIns="0" tIns="0" rIns="0" bIns="0" rtlCol="0" anchor="ctr"/>
          <a:lstStyle/>
          <a:p>
            <a:pPr indent="0" marL="0">
              <a:buNone/>
            </a:pPr>
            <a:r>
              <a:rPr lang="en-US" sz="1100" b="1" dirty="0">
                <a:solidFill>
                  <a:srgbClr val="1E3A8A"/>
                </a:solidFill>
              </a:rPr>
              <a:t>Lesson 8 — Race Cond</a:t>
            </a:r>
            <a:endParaRPr lang="en-US" sz="1100" dirty="0"/>
          </a:p>
        </p:txBody>
      </p:sp>
      <p:sp>
        <p:nvSpPr>
          <p:cNvPr id="18" name="Text 16"/>
          <p:cNvSpPr/>
          <p:nvPr/>
        </p:nvSpPr>
        <p:spPr>
          <a:xfrm>
            <a:off x="6583680" y="3895344"/>
            <a:ext cx="2194560" cy="548640"/>
          </a:xfrm>
          <a:prstGeom prst="rect">
            <a:avLst/>
          </a:prstGeom>
          <a:noFill/>
          <a:ln/>
        </p:spPr>
        <p:txBody>
          <a:bodyPr wrap="square" lIns="0" tIns="0" rIns="0" bIns="0" rtlCol="0" anchor="ctr"/>
          <a:lstStyle/>
          <a:p>
            <a:pPr indent="0" marL="0">
              <a:buNone/>
            </a:pPr>
            <a:r>
              <a:rPr lang="en-US" sz="1000" dirty="0">
                <a:solidFill>
                  <a:srgbClr val="94A3B8"/>
                </a:solidFill>
              </a:rPr>
              <a:t>TOCTOU: 5 items billed</a:t>
            </a:r>
            <a:endParaRPr lang="en-US" sz="1000" dirty="0"/>
          </a:p>
          <a:p>
            <a:pPr indent="0" marL="0">
              <a:buNone/>
            </a:pPr>
            <a:r>
              <a:rPr lang="en-US" sz="1000" dirty="0">
                <a:solidFill>
                  <a:srgbClr val="94A3B8"/>
                </a:solidFill>
              </a:rPr>
              <a:t>at 1-item price</a:t>
            </a:r>
            <a:endParaRPr lang="en-US" sz="1000" dirty="0"/>
          </a:p>
        </p:txBody>
      </p:sp>
      <p:sp>
        <p:nvSpPr>
          <p:cNvPr id="19" name="Shape 17"/>
          <p:cNvSpPr/>
          <p:nvPr/>
        </p:nvSpPr>
        <p:spPr>
          <a:xfrm>
            <a:off x="0" y="4869180"/>
            <a:ext cx="9144000" cy="274320"/>
          </a:xfrm>
          <a:prstGeom prst="rect">
            <a:avLst/>
          </a:prstGeom>
          <a:solidFill>
            <a:srgbClr val="1E293B"/>
          </a:solidFill>
          <a:ln w="12700">
            <a:solidFill>
              <a:srgbClr val="1E293B"/>
            </a:solidFill>
            <a:prstDash val="solid"/>
          </a:ln>
        </p:spPr>
      </p:sp>
      <p:sp>
        <p:nvSpPr>
          <p:cNvPr id="20" name="Text 18"/>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21" name="Text 19"/>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11 / 15</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293B"/>
          </a:solidFill>
          <a:ln w="12700">
            <a:solidFill>
              <a:srgbClr val="1E293B"/>
            </a:solidFill>
            <a:prstDash val="solid"/>
          </a:ln>
        </p:spPr>
      </p:sp>
      <p:sp>
        <p:nvSpPr>
          <p:cNvPr id="3" name="Shape 1"/>
          <p:cNvSpPr/>
          <p:nvPr/>
        </p:nvSpPr>
        <p:spPr>
          <a:xfrm>
            <a:off x="0" y="54864"/>
            <a:ext cx="9144000" cy="640080"/>
          </a:xfrm>
          <a:prstGeom prst="rect">
            <a:avLst/>
          </a:prstGeom>
          <a:solidFill>
            <a:srgbClr val="1E293B"/>
          </a:solidFill>
          <a:ln w="12700">
            <a:solidFill>
              <a:srgbClr val="1E293B"/>
            </a:solidFill>
            <a:prstDash val="solid"/>
          </a:ln>
        </p:spPr>
      </p:sp>
      <p:sp>
        <p:nvSpPr>
          <p:cNvPr id="4" name="Text 2"/>
          <p:cNvSpPr/>
          <p:nvPr/>
        </p:nvSpPr>
        <p:spPr>
          <a:xfrm>
            <a:off x="320040" y="146304"/>
            <a:ext cx="8503920" cy="475488"/>
          </a:xfrm>
          <a:prstGeom prst="rect">
            <a:avLst/>
          </a:prstGeom>
          <a:noFill/>
          <a:ln/>
        </p:spPr>
        <p:txBody>
          <a:bodyPr wrap="square"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Lessons 6, 7 &amp; 8  —  DoS · Over-Privileged Functions · Race Condition</a:t>
            </a:r>
            <a:endParaRPr lang="en-US" sz="2000" dirty="0"/>
          </a:p>
        </p:txBody>
      </p:sp>
      <p:sp>
        <p:nvSpPr>
          <p:cNvPr id="5" name="Shape 3"/>
          <p:cNvSpPr/>
          <p:nvPr/>
        </p:nvSpPr>
        <p:spPr>
          <a:xfrm>
            <a:off x="0" y="4869180"/>
            <a:ext cx="9144000" cy="274320"/>
          </a:xfrm>
          <a:prstGeom prst="rect">
            <a:avLst/>
          </a:prstGeom>
          <a:solidFill>
            <a:srgbClr val="1E293B"/>
          </a:solidFill>
          <a:ln w="12700">
            <a:solidFill>
              <a:srgbClr val="1E293B"/>
            </a:solidFill>
            <a:prstDash val="solid"/>
          </a:ln>
        </p:spPr>
      </p:sp>
      <p:sp>
        <p:nvSpPr>
          <p:cNvPr id="6" name="Text 4"/>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7" name="Text 5"/>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12 / 15</a:t>
            </a:r>
            <a:endParaRPr lang="en-US" sz="700" dirty="0"/>
          </a:p>
        </p:txBody>
      </p:sp>
      <p:sp>
        <p:nvSpPr>
          <p:cNvPr id="8" name="Shape 6"/>
          <p:cNvSpPr/>
          <p:nvPr/>
        </p:nvSpPr>
        <p:spPr>
          <a:xfrm>
            <a:off x="201168" y="841248"/>
            <a:ext cx="2816352" cy="310896"/>
          </a:xfrm>
          <a:prstGeom prst="rect">
            <a:avLst/>
          </a:prstGeom>
          <a:solidFill>
            <a:srgbClr val="EA580C"/>
          </a:solidFill>
          <a:ln w="12700">
            <a:solidFill>
              <a:srgbClr val="EA580C"/>
            </a:solidFill>
            <a:prstDash val="solid"/>
          </a:ln>
        </p:spPr>
      </p:sp>
      <p:sp>
        <p:nvSpPr>
          <p:cNvPr id="9" name="Text 7"/>
          <p:cNvSpPr/>
          <p:nvPr/>
        </p:nvSpPr>
        <p:spPr>
          <a:xfrm>
            <a:off x="274320" y="841248"/>
            <a:ext cx="2697480" cy="310896"/>
          </a:xfrm>
          <a:prstGeom prst="rect">
            <a:avLst/>
          </a:prstGeom>
          <a:noFill/>
          <a:ln/>
        </p:spPr>
        <p:txBody>
          <a:bodyPr wrap="square" lIns="0" tIns="0" rIns="0" bIns="0" rtlCol="0" anchor="ctr"/>
          <a:lstStyle/>
          <a:p>
            <a:pPr indent="0" marL="0">
              <a:buNone/>
            </a:pPr>
            <a:r>
              <a:rPr lang="en-US" sz="1000" b="1" dirty="0">
                <a:solidFill>
                  <a:srgbClr val="FFFFFF"/>
                </a:solidFill>
              </a:rPr>
              <a:t>Lesson 6 — DoS</a:t>
            </a:r>
            <a:endParaRPr lang="en-US" sz="1000" dirty="0"/>
          </a:p>
        </p:txBody>
      </p:sp>
      <p:sp>
        <p:nvSpPr>
          <p:cNvPr id="10" name="Shape 8"/>
          <p:cNvSpPr/>
          <p:nvPr/>
        </p:nvSpPr>
        <p:spPr>
          <a:xfrm>
            <a:off x="201168" y="1261872"/>
            <a:ext cx="281635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201168" y="1261872"/>
            <a:ext cx="50292" cy="1005840"/>
          </a:xfrm>
          <a:prstGeom prst="rect">
            <a:avLst/>
          </a:prstGeom>
          <a:solidFill>
            <a:srgbClr val="EA580C"/>
          </a:solidFill>
          <a:ln w="12700">
            <a:solidFill>
              <a:srgbClr val="EA580C"/>
            </a:solidFill>
            <a:prstDash val="solid"/>
          </a:ln>
        </p:spPr>
      </p:sp>
      <p:sp>
        <p:nvSpPr>
          <p:cNvPr id="12" name="Text 10"/>
          <p:cNvSpPr/>
          <p:nvPr/>
        </p:nvSpPr>
        <p:spPr>
          <a:xfrm>
            <a:off x="356616" y="1335024"/>
            <a:ext cx="2542032" cy="237744"/>
          </a:xfrm>
          <a:prstGeom prst="rect">
            <a:avLst/>
          </a:prstGeom>
          <a:noFill/>
          <a:ln/>
        </p:spPr>
        <p:txBody>
          <a:bodyPr wrap="square" lIns="0" tIns="0" rIns="0" bIns="0" rtlCol="0" anchor="ctr"/>
          <a:lstStyle/>
          <a:p>
            <a:pPr indent="0" marL="0">
              <a:buNone/>
            </a:pPr>
            <a:r>
              <a:rPr lang="en-US" sz="900" b="1" dirty="0">
                <a:solidFill>
                  <a:srgbClr val="EA580C"/>
                </a:solidFill>
              </a:rPr>
              <a:t>Root Cause</a:t>
            </a:r>
            <a:endParaRPr lang="en-US" sz="900" dirty="0"/>
          </a:p>
        </p:txBody>
      </p:sp>
      <p:sp>
        <p:nvSpPr>
          <p:cNvPr id="13" name="Text 11"/>
          <p:cNvSpPr/>
          <p:nvPr/>
        </p:nvSpPr>
        <p:spPr>
          <a:xfrm>
            <a:off x="356616" y="1591056"/>
            <a:ext cx="2542032" cy="594360"/>
          </a:xfrm>
          <a:prstGeom prst="rect">
            <a:avLst/>
          </a:prstGeom>
          <a:noFill/>
          <a:ln/>
        </p:spPr>
        <p:txBody>
          <a:bodyPr wrap="square" lIns="0" tIns="0" rIns="0" bIns="0" rtlCol="0" anchor="ctr"/>
          <a:lstStyle/>
          <a:p>
            <a:pPr indent="0" marL="0">
              <a:buNone/>
            </a:pPr>
            <a:r>
              <a:rPr lang="en-US" sz="850" dirty="0">
                <a:solidFill>
                  <a:srgbClr val="1E293B"/>
                </a:solidFill>
              </a:rPr>
              <a:t>No rate limiting or Lambda reserved concurrency — 50 concurrent requests exhaust the shared pool</a:t>
            </a:r>
            <a:endParaRPr lang="en-US" sz="850" dirty="0"/>
          </a:p>
        </p:txBody>
      </p:sp>
      <p:sp>
        <p:nvSpPr>
          <p:cNvPr id="14" name="Shape 12"/>
          <p:cNvSpPr/>
          <p:nvPr/>
        </p:nvSpPr>
        <p:spPr>
          <a:xfrm>
            <a:off x="201168" y="2404872"/>
            <a:ext cx="281635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01168" y="2404872"/>
            <a:ext cx="50292" cy="1005840"/>
          </a:xfrm>
          <a:prstGeom prst="rect">
            <a:avLst/>
          </a:prstGeom>
          <a:solidFill>
            <a:srgbClr val="EA580C"/>
          </a:solidFill>
          <a:ln w="12700">
            <a:solidFill>
              <a:srgbClr val="EA580C"/>
            </a:solidFill>
            <a:prstDash val="solid"/>
          </a:ln>
        </p:spPr>
      </p:sp>
      <p:sp>
        <p:nvSpPr>
          <p:cNvPr id="16" name="Text 14"/>
          <p:cNvSpPr/>
          <p:nvPr/>
        </p:nvSpPr>
        <p:spPr>
          <a:xfrm>
            <a:off x="356616" y="2478024"/>
            <a:ext cx="2542032" cy="237744"/>
          </a:xfrm>
          <a:prstGeom prst="rect">
            <a:avLst/>
          </a:prstGeom>
          <a:noFill/>
          <a:ln/>
        </p:spPr>
        <p:txBody>
          <a:bodyPr wrap="square" lIns="0" tIns="0" rIns="0" bIns="0" rtlCol="0" anchor="ctr"/>
          <a:lstStyle/>
          <a:p>
            <a:pPr indent="0" marL="0">
              <a:buNone/>
            </a:pPr>
            <a:r>
              <a:rPr lang="en-US" sz="900" b="1" dirty="0">
                <a:solidFill>
                  <a:srgbClr val="EA580C"/>
                </a:solidFill>
              </a:rPr>
              <a:t>Exploit</a:t>
            </a:r>
            <a:endParaRPr lang="en-US" sz="900" dirty="0"/>
          </a:p>
        </p:txBody>
      </p:sp>
      <p:sp>
        <p:nvSpPr>
          <p:cNvPr id="17" name="Text 15"/>
          <p:cNvSpPr/>
          <p:nvPr/>
        </p:nvSpPr>
        <p:spPr>
          <a:xfrm>
            <a:off x="356616" y="2734056"/>
            <a:ext cx="2542032" cy="594360"/>
          </a:xfrm>
          <a:prstGeom prst="rect">
            <a:avLst/>
          </a:prstGeom>
          <a:noFill/>
          <a:ln/>
        </p:spPr>
        <p:txBody>
          <a:bodyPr wrap="square" lIns="0" tIns="0" rIns="0" bIns="0" rtlCol="0" anchor="ctr"/>
          <a:lstStyle/>
          <a:p>
            <a:pPr indent="0" marL="0">
              <a:buNone/>
            </a:pPr>
            <a:r>
              <a:rPr lang="en-US" sz="850" dirty="0">
                <a:solidFill>
                  <a:srgbClr val="1E293B"/>
                </a:solidFill>
              </a:rPr>
              <a:t>Python threading.Barrier fires 50 simultaneous requests; victim gets 429 errors or 3x+ latency</a:t>
            </a:r>
            <a:endParaRPr lang="en-US" sz="850" dirty="0"/>
          </a:p>
        </p:txBody>
      </p:sp>
      <p:sp>
        <p:nvSpPr>
          <p:cNvPr id="18" name="Shape 16"/>
          <p:cNvSpPr/>
          <p:nvPr/>
        </p:nvSpPr>
        <p:spPr>
          <a:xfrm>
            <a:off x="201168" y="3547872"/>
            <a:ext cx="281635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201168" y="3547872"/>
            <a:ext cx="50292" cy="1005840"/>
          </a:xfrm>
          <a:prstGeom prst="rect">
            <a:avLst/>
          </a:prstGeom>
          <a:solidFill>
            <a:srgbClr val="EA580C"/>
          </a:solidFill>
          <a:ln w="12700">
            <a:solidFill>
              <a:srgbClr val="EA580C"/>
            </a:solidFill>
            <a:prstDash val="solid"/>
          </a:ln>
        </p:spPr>
      </p:sp>
      <p:sp>
        <p:nvSpPr>
          <p:cNvPr id="20" name="Text 18"/>
          <p:cNvSpPr/>
          <p:nvPr/>
        </p:nvSpPr>
        <p:spPr>
          <a:xfrm>
            <a:off x="356616" y="3621024"/>
            <a:ext cx="2542032" cy="237744"/>
          </a:xfrm>
          <a:prstGeom prst="rect">
            <a:avLst/>
          </a:prstGeom>
          <a:noFill/>
          <a:ln/>
        </p:spPr>
        <p:txBody>
          <a:bodyPr wrap="square" lIns="0" tIns="0" rIns="0" bIns="0" rtlCol="0" anchor="ctr"/>
          <a:lstStyle/>
          <a:p>
            <a:pPr indent="0" marL="0">
              <a:buNone/>
            </a:pPr>
            <a:r>
              <a:rPr lang="en-US" sz="900" b="1" dirty="0">
                <a:solidFill>
                  <a:srgbClr val="EA580C"/>
                </a:solidFill>
              </a:rPr>
              <a:t>Fix</a:t>
            </a:r>
            <a:endParaRPr lang="en-US" sz="900" dirty="0"/>
          </a:p>
        </p:txBody>
      </p:sp>
      <p:sp>
        <p:nvSpPr>
          <p:cNvPr id="21" name="Text 19"/>
          <p:cNvSpPr/>
          <p:nvPr/>
        </p:nvSpPr>
        <p:spPr>
          <a:xfrm>
            <a:off x="356616" y="3877056"/>
            <a:ext cx="2542032" cy="594360"/>
          </a:xfrm>
          <a:prstGeom prst="rect">
            <a:avLst/>
          </a:prstGeom>
          <a:noFill/>
          <a:ln/>
        </p:spPr>
        <p:txBody>
          <a:bodyPr wrap="square" lIns="0" tIns="0" rIns="0" bIns="0" rtlCol="0" anchor="ctr"/>
          <a:lstStyle/>
          <a:p>
            <a:pPr indent="0" marL="0">
              <a:buNone/>
            </a:pPr>
            <a:r>
              <a:rPr lang="en-US" sz="850" dirty="0">
                <a:solidFill>
                  <a:srgbClr val="1E293B"/>
                </a:solidFill>
              </a:rPr>
              <a:t>API Gateway usage plan (2 req/s, burst 5) + Lambda reserved concurrency (10) on ORDER-MANAGER</a:t>
            </a:r>
            <a:endParaRPr lang="en-US" sz="850" dirty="0"/>
          </a:p>
        </p:txBody>
      </p:sp>
      <p:sp>
        <p:nvSpPr>
          <p:cNvPr id="22" name="Shape 20"/>
          <p:cNvSpPr/>
          <p:nvPr/>
        </p:nvSpPr>
        <p:spPr>
          <a:xfrm>
            <a:off x="3200400" y="841248"/>
            <a:ext cx="2816352" cy="310896"/>
          </a:xfrm>
          <a:prstGeom prst="rect">
            <a:avLst/>
          </a:prstGeom>
          <a:solidFill>
            <a:srgbClr val="DC2626"/>
          </a:solidFill>
          <a:ln w="12700">
            <a:solidFill>
              <a:srgbClr val="DC2626"/>
            </a:solidFill>
            <a:prstDash val="solid"/>
          </a:ln>
        </p:spPr>
      </p:sp>
      <p:sp>
        <p:nvSpPr>
          <p:cNvPr id="23" name="Text 21"/>
          <p:cNvSpPr/>
          <p:nvPr/>
        </p:nvSpPr>
        <p:spPr>
          <a:xfrm>
            <a:off x="3273552" y="841248"/>
            <a:ext cx="2697480" cy="310896"/>
          </a:xfrm>
          <a:prstGeom prst="rect">
            <a:avLst/>
          </a:prstGeom>
          <a:noFill/>
          <a:ln/>
        </p:spPr>
        <p:txBody>
          <a:bodyPr wrap="square" lIns="0" tIns="0" rIns="0" bIns="0" rtlCol="0" anchor="ctr"/>
          <a:lstStyle/>
          <a:p>
            <a:pPr indent="0" marL="0">
              <a:buNone/>
            </a:pPr>
            <a:r>
              <a:rPr lang="en-US" sz="1000" b="1" dirty="0">
                <a:solidFill>
                  <a:srgbClr val="FFFFFF"/>
                </a:solidFill>
              </a:rPr>
              <a:t>Lesson 7 — Over-Privileged IAM</a:t>
            </a:r>
            <a:endParaRPr lang="en-US" sz="1000" dirty="0"/>
          </a:p>
        </p:txBody>
      </p:sp>
      <p:sp>
        <p:nvSpPr>
          <p:cNvPr id="24" name="Shape 22"/>
          <p:cNvSpPr/>
          <p:nvPr/>
        </p:nvSpPr>
        <p:spPr>
          <a:xfrm>
            <a:off x="3200400" y="1261872"/>
            <a:ext cx="281635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3200400" y="1261872"/>
            <a:ext cx="50292" cy="1005840"/>
          </a:xfrm>
          <a:prstGeom prst="rect">
            <a:avLst/>
          </a:prstGeom>
          <a:solidFill>
            <a:srgbClr val="DC2626"/>
          </a:solidFill>
          <a:ln w="12700">
            <a:solidFill>
              <a:srgbClr val="DC2626"/>
            </a:solidFill>
            <a:prstDash val="solid"/>
          </a:ln>
        </p:spPr>
      </p:sp>
      <p:sp>
        <p:nvSpPr>
          <p:cNvPr id="26" name="Text 24"/>
          <p:cNvSpPr/>
          <p:nvPr/>
        </p:nvSpPr>
        <p:spPr>
          <a:xfrm>
            <a:off x="3355848" y="1335024"/>
            <a:ext cx="2542032" cy="237744"/>
          </a:xfrm>
          <a:prstGeom prst="rect">
            <a:avLst/>
          </a:prstGeom>
          <a:noFill/>
          <a:ln/>
        </p:spPr>
        <p:txBody>
          <a:bodyPr wrap="square" lIns="0" tIns="0" rIns="0" bIns="0" rtlCol="0" anchor="ctr"/>
          <a:lstStyle/>
          <a:p>
            <a:pPr indent="0" marL="0">
              <a:buNone/>
            </a:pPr>
            <a:r>
              <a:rPr lang="en-US" sz="900" b="1" dirty="0">
                <a:solidFill>
                  <a:srgbClr val="DC2626"/>
                </a:solidFill>
              </a:rPr>
              <a:t>Root Cause</a:t>
            </a:r>
            <a:endParaRPr lang="en-US" sz="900" dirty="0"/>
          </a:p>
        </p:txBody>
      </p:sp>
      <p:sp>
        <p:nvSpPr>
          <p:cNvPr id="27" name="Text 25"/>
          <p:cNvSpPr/>
          <p:nvPr/>
        </p:nvSpPr>
        <p:spPr>
          <a:xfrm>
            <a:off x="3355848" y="1591056"/>
            <a:ext cx="2542032" cy="594360"/>
          </a:xfrm>
          <a:prstGeom prst="rect">
            <a:avLst/>
          </a:prstGeom>
          <a:noFill/>
          <a:ln/>
        </p:spPr>
        <p:txBody>
          <a:bodyPr wrap="square" lIns="0" tIns="0" rIns="0" bIns="0" rtlCol="0" anchor="ctr"/>
          <a:lstStyle/>
          <a:p>
            <a:pPr indent="0" marL="0">
              <a:buNone/>
            </a:pPr>
            <a:r>
              <a:rPr lang="en-US" sz="850" dirty="0">
                <a:solidFill>
                  <a:srgbClr val="1E293B"/>
                </a:solidFill>
              </a:rPr>
              <a:t>DVSA-SEND-RECEIPT-EMAIL role grants s3:* on all buckets and dynamodb:Scan on all tables via wildcards</a:t>
            </a:r>
            <a:endParaRPr lang="en-US" sz="850" dirty="0"/>
          </a:p>
        </p:txBody>
      </p:sp>
      <p:sp>
        <p:nvSpPr>
          <p:cNvPr id="28" name="Shape 26"/>
          <p:cNvSpPr/>
          <p:nvPr/>
        </p:nvSpPr>
        <p:spPr>
          <a:xfrm>
            <a:off x="3200400" y="2404872"/>
            <a:ext cx="281635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3200400" y="2404872"/>
            <a:ext cx="50292" cy="1005840"/>
          </a:xfrm>
          <a:prstGeom prst="rect">
            <a:avLst/>
          </a:prstGeom>
          <a:solidFill>
            <a:srgbClr val="DC2626"/>
          </a:solidFill>
          <a:ln w="12700">
            <a:solidFill>
              <a:srgbClr val="DC2626"/>
            </a:solidFill>
            <a:prstDash val="solid"/>
          </a:ln>
        </p:spPr>
      </p:sp>
      <p:sp>
        <p:nvSpPr>
          <p:cNvPr id="30" name="Text 28"/>
          <p:cNvSpPr/>
          <p:nvPr/>
        </p:nvSpPr>
        <p:spPr>
          <a:xfrm>
            <a:off x="3355848" y="2478024"/>
            <a:ext cx="2542032" cy="237744"/>
          </a:xfrm>
          <a:prstGeom prst="rect">
            <a:avLst/>
          </a:prstGeom>
          <a:noFill/>
          <a:ln/>
        </p:spPr>
        <p:txBody>
          <a:bodyPr wrap="square" lIns="0" tIns="0" rIns="0" bIns="0" rtlCol="0" anchor="ctr"/>
          <a:lstStyle/>
          <a:p>
            <a:pPr indent="0" marL="0">
              <a:buNone/>
            </a:pPr>
            <a:r>
              <a:rPr lang="en-US" sz="900" b="1" dirty="0">
                <a:solidFill>
                  <a:srgbClr val="DC2626"/>
                </a:solidFill>
              </a:rPr>
              <a:t>Exploit</a:t>
            </a:r>
            <a:endParaRPr lang="en-US" sz="900" dirty="0"/>
          </a:p>
        </p:txBody>
      </p:sp>
      <p:sp>
        <p:nvSpPr>
          <p:cNvPr id="31" name="Text 29"/>
          <p:cNvSpPr/>
          <p:nvPr/>
        </p:nvSpPr>
        <p:spPr>
          <a:xfrm>
            <a:off x="3355848" y="2734056"/>
            <a:ext cx="2542032" cy="594360"/>
          </a:xfrm>
          <a:prstGeom prst="rect">
            <a:avLst/>
          </a:prstGeom>
          <a:noFill/>
          <a:ln/>
        </p:spPr>
        <p:txBody>
          <a:bodyPr wrap="square" lIns="0" tIns="0" rIns="0" bIns="0" rtlCol="0" anchor="ctr"/>
          <a:lstStyle/>
          <a:p>
            <a:pPr indent="0" marL="0">
              <a:buNone/>
            </a:pPr>
            <a:r>
              <a:rPr lang="en-US" sz="850" dirty="0">
                <a:solidFill>
                  <a:srgbClr val="1E293B"/>
                </a:solidFill>
              </a:rPr>
              <a:t>IAM Policy Simulator confirms ALLOWED for arbitrary S3/DynamoDB resources. Stolen STS credentials scan DVSA-ORDERS-DB</a:t>
            </a:r>
            <a:endParaRPr lang="en-US" sz="850" dirty="0"/>
          </a:p>
        </p:txBody>
      </p:sp>
      <p:sp>
        <p:nvSpPr>
          <p:cNvPr id="32" name="Shape 30"/>
          <p:cNvSpPr/>
          <p:nvPr/>
        </p:nvSpPr>
        <p:spPr>
          <a:xfrm>
            <a:off x="3200400" y="3547872"/>
            <a:ext cx="281635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3200400" y="3547872"/>
            <a:ext cx="50292" cy="1005840"/>
          </a:xfrm>
          <a:prstGeom prst="rect">
            <a:avLst/>
          </a:prstGeom>
          <a:solidFill>
            <a:srgbClr val="DC2626"/>
          </a:solidFill>
          <a:ln w="12700">
            <a:solidFill>
              <a:srgbClr val="DC2626"/>
            </a:solidFill>
            <a:prstDash val="solid"/>
          </a:ln>
        </p:spPr>
      </p:sp>
      <p:sp>
        <p:nvSpPr>
          <p:cNvPr id="34" name="Text 32"/>
          <p:cNvSpPr/>
          <p:nvPr/>
        </p:nvSpPr>
        <p:spPr>
          <a:xfrm>
            <a:off x="3355848" y="3621024"/>
            <a:ext cx="2542032" cy="237744"/>
          </a:xfrm>
          <a:prstGeom prst="rect">
            <a:avLst/>
          </a:prstGeom>
          <a:noFill/>
          <a:ln/>
        </p:spPr>
        <p:txBody>
          <a:bodyPr wrap="square" lIns="0" tIns="0" rIns="0" bIns="0" rtlCol="0" anchor="ctr"/>
          <a:lstStyle/>
          <a:p>
            <a:pPr indent="0" marL="0">
              <a:buNone/>
            </a:pPr>
            <a:r>
              <a:rPr lang="en-US" sz="900" b="1" dirty="0">
                <a:solidFill>
                  <a:srgbClr val="DC2626"/>
                </a:solidFill>
              </a:rPr>
              <a:t>Fix</a:t>
            </a:r>
            <a:endParaRPr lang="en-US" sz="900" dirty="0"/>
          </a:p>
        </p:txBody>
      </p:sp>
      <p:sp>
        <p:nvSpPr>
          <p:cNvPr id="35" name="Text 33"/>
          <p:cNvSpPr/>
          <p:nvPr/>
        </p:nvSpPr>
        <p:spPr>
          <a:xfrm>
            <a:off x="3355848" y="3877056"/>
            <a:ext cx="2542032" cy="594360"/>
          </a:xfrm>
          <a:prstGeom prst="rect">
            <a:avLst/>
          </a:prstGeom>
          <a:noFill/>
          <a:ln/>
        </p:spPr>
        <p:txBody>
          <a:bodyPr wrap="square" lIns="0" tIns="0" rIns="0" bIns="0" rtlCol="0" anchor="ctr"/>
          <a:lstStyle/>
          <a:p>
            <a:pPr indent="0" marL="0">
              <a:buNone/>
            </a:pPr>
            <a:r>
              <a:rPr lang="en-US" sz="850" dirty="0">
                <a:solidFill>
                  <a:srgbClr val="1E293B"/>
                </a:solidFill>
              </a:rPr>
              <a:t>Detach AmazonSESFullAccess; apply inline least-privilege policy scoped to specific DVSA bucket + table ARNs</a:t>
            </a:r>
            <a:endParaRPr lang="en-US" sz="850" dirty="0"/>
          </a:p>
        </p:txBody>
      </p:sp>
      <p:sp>
        <p:nvSpPr>
          <p:cNvPr id="36" name="Shape 34"/>
          <p:cNvSpPr/>
          <p:nvPr/>
        </p:nvSpPr>
        <p:spPr>
          <a:xfrm>
            <a:off x="6199632" y="841248"/>
            <a:ext cx="2816352" cy="310896"/>
          </a:xfrm>
          <a:prstGeom prst="rect">
            <a:avLst/>
          </a:prstGeom>
          <a:solidFill>
            <a:srgbClr val="1E3A8A"/>
          </a:solidFill>
          <a:ln w="12700">
            <a:solidFill>
              <a:srgbClr val="1E3A8A"/>
            </a:solidFill>
            <a:prstDash val="solid"/>
          </a:ln>
        </p:spPr>
      </p:sp>
      <p:sp>
        <p:nvSpPr>
          <p:cNvPr id="37" name="Text 35"/>
          <p:cNvSpPr/>
          <p:nvPr/>
        </p:nvSpPr>
        <p:spPr>
          <a:xfrm>
            <a:off x="6272784" y="841248"/>
            <a:ext cx="2697480" cy="310896"/>
          </a:xfrm>
          <a:prstGeom prst="rect">
            <a:avLst/>
          </a:prstGeom>
          <a:noFill/>
          <a:ln/>
        </p:spPr>
        <p:txBody>
          <a:bodyPr wrap="square" lIns="0" tIns="0" rIns="0" bIns="0" rtlCol="0" anchor="ctr"/>
          <a:lstStyle/>
          <a:p>
            <a:pPr indent="0" marL="0">
              <a:buNone/>
            </a:pPr>
            <a:r>
              <a:rPr lang="en-US" sz="1000" b="1" dirty="0">
                <a:solidFill>
                  <a:srgbClr val="FFFFFF"/>
                </a:solidFill>
              </a:rPr>
              <a:t>Lesson 8 — Race Condition</a:t>
            </a:r>
            <a:endParaRPr lang="en-US" sz="1000" dirty="0"/>
          </a:p>
        </p:txBody>
      </p:sp>
      <p:sp>
        <p:nvSpPr>
          <p:cNvPr id="38" name="Shape 36"/>
          <p:cNvSpPr/>
          <p:nvPr/>
        </p:nvSpPr>
        <p:spPr>
          <a:xfrm>
            <a:off x="6199632" y="1261872"/>
            <a:ext cx="281635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39" name="Shape 37"/>
          <p:cNvSpPr/>
          <p:nvPr/>
        </p:nvSpPr>
        <p:spPr>
          <a:xfrm>
            <a:off x="6199632" y="1261872"/>
            <a:ext cx="50292" cy="1005840"/>
          </a:xfrm>
          <a:prstGeom prst="rect">
            <a:avLst/>
          </a:prstGeom>
          <a:solidFill>
            <a:srgbClr val="1E3A8A"/>
          </a:solidFill>
          <a:ln w="12700">
            <a:solidFill>
              <a:srgbClr val="1E3A8A"/>
            </a:solidFill>
            <a:prstDash val="solid"/>
          </a:ln>
        </p:spPr>
      </p:sp>
      <p:sp>
        <p:nvSpPr>
          <p:cNvPr id="40" name="Text 38"/>
          <p:cNvSpPr/>
          <p:nvPr/>
        </p:nvSpPr>
        <p:spPr>
          <a:xfrm>
            <a:off x="6355080" y="1335024"/>
            <a:ext cx="2542032" cy="237744"/>
          </a:xfrm>
          <a:prstGeom prst="rect">
            <a:avLst/>
          </a:prstGeom>
          <a:noFill/>
          <a:ln/>
        </p:spPr>
        <p:txBody>
          <a:bodyPr wrap="square" lIns="0" tIns="0" rIns="0" bIns="0" rtlCol="0" anchor="ctr"/>
          <a:lstStyle/>
          <a:p>
            <a:pPr indent="0" marL="0">
              <a:buNone/>
            </a:pPr>
            <a:r>
              <a:rPr lang="en-US" sz="900" b="1" dirty="0">
                <a:solidFill>
                  <a:srgbClr val="1E3A8A"/>
                </a:solidFill>
              </a:rPr>
              <a:t>Root Cause</a:t>
            </a:r>
            <a:endParaRPr lang="en-US" sz="900" dirty="0"/>
          </a:p>
        </p:txBody>
      </p:sp>
      <p:sp>
        <p:nvSpPr>
          <p:cNvPr id="41" name="Text 39"/>
          <p:cNvSpPr/>
          <p:nvPr/>
        </p:nvSpPr>
        <p:spPr>
          <a:xfrm>
            <a:off x="6355080" y="1591056"/>
            <a:ext cx="2542032" cy="594360"/>
          </a:xfrm>
          <a:prstGeom prst="rect">
            <a:avLst/>
          </a:prstGeom>
          <a:noFill/>
          <a:ln/>
        </p:spPr>
        <p:txBody>
          <a:bodyPr wrap="square" lIns="0" tIns="0" rIns="0" bIns="0" rtlCol="0" anchor="ctr"/>
          <a:lstStyle/>
          <a:p>
            <a:pPr indent="0" marL="0">
              <a:buNone/>
            </a:pPr>
            <a:r>
              <a:rPr lang="en-US" sz="850" dirty="0">
                <a:solidFill>
                  <a:srgbClr val="1E293B"/>
                </a:solidFill>
              </a:rPr>
              <a:t>TOCTOU gap: billing reads quantity, charges price, then writes 'paid' — no atomic lock between read and write</a:t>
            </a:r>
            <a:endParaRPr lang="en-US" sz="850" dirty="0"/>
          </a:p>
        </p:txBody>
      </p:sp>
      <p:sp>
        <p:nvSpPr>
          <p:cNvPr id="42" name="Shape 40"/>
          <p:cNvSpPr/>
          <p:nvPr/>
        </p:nvSpPr>
        <p:spPr>
          <a:xfrm>
            <a:off x="6199632" y="2404872"/>
            <a:ext cx="281635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43" name="Shape 41"/>
          <p:cNvSpPr/>
          <p:nvPr/>
        </p:nvSpPr>
        <p:spPr>
          <a:xfrm>
            <a:off x="6199632" y="2404872"/>
            <a:ext cx="50292" cy="1005840"/>
          </a:xfrm>
          <a:prstGeom prst="rect">
            <a:avLst/>
          </a:prstGeom>
          <a:solidFill>
            <a:srgbClr val="1E3A8A"/>
          </a:solidFill>
          <a:ln w="12700">
            <a:solidFill>
              <a:srgbClr val="1E3A8A"/>
            </a:solidFill>
            <a:prstDash val="solid"/>
          </a:ln>
        </p:spPr>
      </p:sp>
      <p:sp>
        <p:nvSpPr>
          <p:cNvPr id="44" name="Text 42"/>
          <p:cNvSpPr/>
          <p:nvPr/>
        </p:nvSpPr>
        <p:spPr>
          <a:xfrm>
            <a:off x="6355080" y="2478024"/>
            <a:ext cx="2542032" cy="237744"/>
          </a:xfrm>
          <a:prstGeom prst="rect">
            <a:avLst/>
          </a:prstGeom>
          <a:noFill/>
          <a:ln/>
        </p:spPr>
        <p:txBody>
          <a:bodyPr wrap="square" lIns="0" tIns="0" rIns="0" bIns="0" rtlCol="0" anchor="ctr"/>
          <a:lstStyle/>
          <a:p>
            <a:pPr indent="0" marL="0">
              <a:buNone/>
            </a:pPr>
            <a:r>
              <a:rPr lang="en-US" sz="900" b="1" dirty="0">
                <a:solidFill>
                  <a:srgbClr val="1E3A8A"/>
                </a:solidFill>
              </a:rPr>
              <a:t>Exploit</a:t>
            </a:r>
            <a:endParaRPr lang="en-US" sz="900" dirty="0"/>
          </a:p>
        </p:txBody>
      </p:sp>
      <p:sp>
        <p:nvSpPr>
          <p:cNvPr id="45" name="Text 43"/>
          <p:cNvSpPr/>
          <p:nvPr/>
        </p:nvSpPr>
        <p:spPr>
          <a:xfrm>
            <a:off x="6355080" y="2734056"/>
            <a:ext cx="2542032" cy="594360"/>
          </a:xfrm>
          <a:prstGeom prst="rect">
            <a:avLst/>
          </a:prstGeom>
          <a:noFill/>
          <a:ln/>
        </p:spPr>
        <p:txBody>
          <a:bodyPr wrap="square" lIns="0" tIns="0" rIns="0" bIns="0" rtlCol="0" anchor="ctr"/>
          <a:lstStyle/>
          <a:p>
            <a:pPr indent="0" marL="0">
              <a:buNone/>
            </a:pPr>
            <a:r>
              <a:rPr lang="en-US" sz="850" dirty="0">
                <a:solidFill>
                  <a:srgbClr val="1E293B"/>
                </a:solidFill>
              </a:rPr>
              <a:t>Concurrent billing (1 item, $25) + update (qty=5) via threading.Barrier; final state: 5 items at $25 total</a:t>
            </a:r>
            <a:endParaRPr lang="en-US" sz="850" dirty="0"/>
          </a:p>
        </p:txBody>
      </p:sp>
      <p:sp>
        <p:nvSpPr>
          <p:cNvPr id="46" name="Shape 44"/>
          <p:cNvSpPr/>
          <p:nvPr/>
        </p:nvSpPr>
        <p:spPr>
          <a:xfrm>
            <a:off x="6199632" y="3547872"/>
            <a:ext cx="2816352" cy="100584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47" name="Shape 45"/>
          <p:cNvSpPr/>
          <p:nvPr/>
        </p:nvSpPr>
        <p:spPr>
          <a:xfrm>
            <a:off x="6199632" y="3547872"/>
            <a:ext cx="50292" cy="1005840"/>
          </a:xfrm>
          <a:prstGeom prst="rect">
            <a:avLst/>
          </a:prstGeom>
          <a:solidFill>
            <a:srgbClr val="1E3A8A"/>
          </a:solidFill>
          <a:ln w="12700">
            <a:solidFill>
              <a:srgbClr val="1E3A8A"/>
            </a:solidFill>
            <a:prstDash val="solid"/>
          </a:ln>
        </p:spPr>
      </p:sp>
      <p:sp>
        <p:nvSpPr>
          <p:cNvPr id="48" name="Text 46"/>
          <p:cNvSpPr/>
          <p:nvPr/>
        </p:nvSpPr>
        <p:spPr>
          <a:xfrm>
            <a:off x="6355080" y="3621024"/>
            <a:ext cx="2542032" cy="237744"/>
          </a:xfrm>
          <a:prstGeom prst="rect">
            <a:avLst/>
          </a:prstGeom>
          <a:noFill/>
          <a:ln/>
        </p:spPr>
        <p:txBody>
          <a:bodyPr wrap="square" lIns="0" tIns="0" rIns="0" bIns="0" rtlCol="0" anchor="ctr"/>
          <a:lstStyle/>
          <a:p>
            <a:pPr indent="0" marL="0">
              <a:buNone/>
            </a:pPr>
            <a:r>
              <a:rPr lang="en-US" sz="900" b="1" dirty="0">
                <a:solidFill>
                  <a:srgbClr val="1E3A8A"/>
                </a:solidFill>
              </a:rPr>
              <a:t>Fix</a:t>
            </a:r>
            <a:endParaRPr lang="en-US" sz="900" dirty="0"/>
          </a:p>
        </p:txBody>
      </p:sp>
      <p:sp>
        <p:nvSpPr>
          <p:cNvPr id="49" name="Text 47"/>
          <p:cNvSpPr/>
          <p:nvPr/>
        </p:nvSpPr>
        <p:spPr>
          <a:xfrm>
            <a:off x="6355080" y="3877056"/>
            <a:ext cx="2542032" cy="594360"/>
          </a:xfrm>
          <a:prstGeom prst="rect">
            <a:avLst/>
          </a:prstGeom>
          <a:noFill/>
          <a:ln/>
        </p:spPr>
        <p:txBody>
          <a:bodyPr wrap="square" lIns="0" tIns="0" rIns="0" bIns="0" rtlCol="0" anchor="ctr"/>
          <a:lstStyle/>
          <a:p>
            <a:pPr indent="0" marL="0">
              <a:buNone/>
            </a:pPr>
            <a:r>
              <a:rPr lang="en-US" sz="850" dirty="0">
                <a:solidFill>
                  <a:srgbClr val="1E293B"/>
                </a:solidFill>
              </a:rPr>
              <a:t>DynamoDB ConditionExpression CAS lock: shipped → billing_pending atomically; update Lambda rejects locked orders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293B"/>
          </a:solidFill>
          <a:ln w="12700">
            <a:solidFill>
              <a:srgbClr val="1E293B"/>
            </a:solidFill>
            <a:prstDash val="solid"/>
          </a:ln>
        </p:spPr>
      </p:sp>
      <p:sp>
        <p:nvSpPr>
          <p:cNvPr id="3" name="Shape 1"/>
          <p:cNvSpPr/>
          <p:nvPr/>
        </p:nvSpPr>
        <p:spPr>
          <a:xfrm>
            <a:off x="0" y="54864"/>
            <a:ext cx="9144000" cy="658368"/>
          </a:xfrm>
          <a:prstGeom prst="rect">
            <a:avLst/>
          </a:prstGeom>
          <a:solidFill>
            <a:srgbClr val="1E293B"/>
          </a:solidFill>
          <a:ln w="12700">
            <a:solidFill>
              <a:srgbClr val="1E293B"/>
            </a:solidFill>
            <a:prstDash val="solid"/>
          </a:ln>
        </p:spPr>
      </p:sp>
      <p:sp>
        <p:nvSpPr>
          <p:cNvPr id="4" name="Text 2"/>
          <p:cNvSpPr/>
          <p:nvPr/>
        </p:nvSpPr>
        <p:spPr>
          <a:xfrm>
            <a:off x="320040" y="91440"/>
            <a:ext cx="1645920" cy="228600"/>
          </a:xfrm>
          <a:prstGeom prst="rect">
            <a:avLst/>
          </a:prstGeom>
          <a:noFill/>
          <a:ln/>
        </p:spPr>
        <p:txBody>
          <a:bodyPr wrap="square" lIns="0" tIns="0" rIns="0" bIns="0" rtlCol="0" anchor="ctr"/>
          <a:lstStyle/>
          <a:p>
            <a:pPr indent="0" marL="0">
              <a:buNone/>
            </a:pPr>
            <a:r>
              <a:rPr lang="en-US" sz="1000" b="1" dirty="0">
                <a:solidFill>
                  <a:srgbClr val="FFFFFF"/>
                </a:solidFill>
              </a:rPr>
              <a:t>Lesson #10</a:t>
            </a:r>
            <a:endParaRPr lang="en-US" sz="1000" dirty="0"/>
          </a:p>
        </p:txBody>
      </p:sp>
      <p:sp>
        <p:nvSpPr>
          <p:cNvPr id="5" name="Text 3"/>
          <p:cNvSpPr/>
          <p:nvPr/>
        </p:nvSpPr>
        <p:spPr>
          <a:xfrm>
            <a:off x="320040" y="292608"/>
            <a:ext cx="7132320" cy="36576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Unhandled Exceptions — Information Leakage</a:t>
            </a:r>
            <a:endParaRPr lang="en-US" sz="2200" dirty="0"/>
          </a:p>
        </p:txBody>
      </p:sp>
      <p:sp>
        <p:nvSpPr>
          <p:cNvPr id="6" name="Shape 4"/>
          <p:cNvSpPr/>
          <p:nvPr/>
        </p:nvSpPr>
        <p:spPr>
          <a:xfrm>
            <a:off x="7406640" y="201168"/>
            <a:ext cx="1508760" cy="310896"/>
          </a:xfrm>
          <a:prstGeom prst="rect">
            <a:avLst/>
          </a:prstGeom>
          <a:solidFill>
            <a:srgbClr val="0F172A"/>
          </a:solidFill>
          <a:ln w="12700">
            <a:solidFill>
              <a:srgbClr val="0F172A"/>
            </a:solidFill>
            <a:prstDash val="solid"/>
          </a:ln>
        </p:spPr>
      </p:sp>
      <p:sp>
        <p:nvSpPr>
          <p:cNvPr id="7" name="Text 5"/>
          <p:cNvSpPr/>
          <p:nvPr/>
        </p:nvSpPr>
        <p:spPr>
          <a:xfrm>
            <a:off x="7406640" y="201168"/>
            <a:ext cx="1508760" cy="310896"/>
          </a:xfrm>
          <a:prstGeom prst="rect">
            <a:avLst/>
          </a:prstGeom>
          <a:noFill/>
          <a:ln/>
        </p:spPr>
        <p:txBody>
          <a:bodyPr wrap="square" lIns="0" tIns="0" rIns="0" bIns="0" rtlCol="0" anchor="ctr"/>
          <a:lstStyle/>
          <a:p>
            <a:pPr algn="ctr" indent="0" marL="0">
              <a:buNone/>
            </a:pPr>
            <a:r>
              <a:rPr lang="en-US" sz="800" b="1" dirty="0">
                <a:solidFill>
                  <a:srgbClr val="38BDF8"/>
                </a:solidFill>
              </a:rPr>
              <a:t>All Lambda Handlers</a:t>
            </a:r>
            <a:endParaRPr lang="en-US" sz="800" dirty="0"/>
          </a:p>
        </p:txBody>
      </p:sp>
      <p:sp>
        <p:nvSpPr>
          <p:cNvPr id="8" name="Shape 6"/>
          <p:cNvSpPr/>
          <p:nvPr/>
        </p:nvSpPr>
        <p:spPr>
          <a:xfrm>
            <a:off x="0" y="4869180"/>
            <a:ext cx="9144000" cy="274320"/>
          </a:xfrm>
          <a:prstGeom prst="rect">
            <a:avLst/>
          </a:prstGeom>
          <a:solidFill>
            <a:srgbClr val="1E293B"/>
          </a:solidFill>
          <a:ln w="12700">
            <a:solidFill>
              <a:srgbClr val="1E293B"/>
            </a:solidFill>
            <a:prstDash val="solid"/>
          </a:ln>
        </p:spPr>
      </p:sp>
      <p:sp>
        <p:nvSpPr>
          <p:cNvPr id="9" name="Text 7"/>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10" name="Text 8"/>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13 / 15</a:t>
            </a:r>
            <a:endParaRPr lang="en-US" sz="700" dirty="0"/>
          </a:p>
        </p:txBody>
      </p:sp>
      <p:sp>
        <p:nvSpPr>
          <p:cNvPr id="11" name="Shape 9"/>
          <p:cNvSpPr/>
          <p:nvPr/>
        </p:nvSpPr>
        <p:spPr>
          <a:xfrm>
            <a:off x="228600" y="914400"/>
            <a:ext cx="4160520" cy="14173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228600" y="914400"/>
            <a:ext cx="50292" cy="1417320"/>
          </a:xfrm>
          <a:prstGeom prst="rect">
            <a:avLst/>
          </a:prstGeom>
          <a:solidFill>
            <a:srgbClr val="1E293B"/>
          </a:solidFill>
          <a:ln w="12700">
            <a:solidFill>
              <a:srgbClr val="1E293B"/>
            </a:solidFill>
            <a:prstDash val="solid"/>
          </a:ln>
        </p:spPr>
      </p:sp>
      <p:sp>
        <p:nvSpPr>
          <p:cNvPr id="13" name="Text 11"/>
          <p:cNvSpPr/>
          <p:nvPr/>
        </p:nvSpPr>
        <p:spPr>
          <a:xfrm>
            <a:off x="411480" y="960120"/>
            <a:ext cx="3840480" cy="274320"/>
          </a:xfrm>
          <a:prstGeom prst="rect">
            <a:avLst/>
          </a:prstGeom>
          <a:noFill/>
          <a:ln/>
        </p:spPr>
        <p:txBody>
          <a:bodyPr wrap="square" lIns="0" tIns="0" rIns="0" bIns="0" rtlCol="0" anchor="ctr"/>
          <a:lstStyle/>
          <a:p>
            <a:pPr indent="0" marL="0">
              <a:buNone/>
            </a:pPr>
            <a:r>
              <a:rPr lang="en-US" sz="1100" b="1" dirty="0">
                <a:solidFill>
                  <a:srgbClr val="1E293B"/>
                </a:solidFill>
              </a:rPr>
              <a:t>🔍  How It Works</a:t>
            </a:r>
            <a:endParaRPr lang="en-US" sz="1100" dirty="0"/>
          </a:p>
        </p:txBody>
      </p:sp>
      <p:sp>
        <p:nvSpPr>
          <p:cNvPr id="14" name="Text 12"/>
          <p:cNvSpPr/>
          <p:nvPr/>
        </p:nvSpPr>
        <p:spPr>
          <a:xfrm>
            <a:off x="411480" y="1234440"/>
            <a:ext cx="3840480" cy="1005840"/>
          </a:xfrm>
          <a:prstGeom prst="rect">
            <a:avLst/>
          </a:prstGeom>
          <a:noFill/>
          <a:ln/>
        </p:spPr>
        <p:txBody>
          <a:bodyPr wrap="square" lIns="0" tIns="0" rIns="0" bIns="0" rtlCol="0" anchor="ctr"/>
          <a:lstStyle/>
          <a:p>
            <a:pPr indent="0" marL="0">
              <a:buNone/>
            </a:pPr>
            <a:r>
              <a:rPr lang="en-US" sz="950" dirty="0">
                <a:solidFill>
                  <a:srgbClr val="1E293B"/>
                </a:solidFill>
              </a:rPr>
              <a:t>Lambda handler functions do not wrap body parsing or main logic in try/catch blocks. When malformed, incomplete, or unexpected input is received, JavaScript throws TypeError or SyntaxError exceptions that propagate directly to API Gateway. API Gateway returns the full error object — including stack traces and internal file paths — to the client.</a:t>
            </a:r>
            <a:endParaRPr lang="en-US" sz="950" dirty="0"/>
          </a:p>
        </p:txBody>
      </p:sp>
      <p:sp>
        <p:nvSpPr>
          <p:cNvPr id="15" name="Shape 13"/>
          <p:cNvSpPr/>
          <p:nvPr/>
        </p:nvSpPr>
        <p:spPr>
          <a:xfrm>
            <a:off x="228600" y="2450592"/>
            <a:ext cx="4160520" cy="11704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228600" y="2450592"/>
            <a:ext cx="50292" cy="1170432"/>
          </a:xfrm>
          <a:prstGeom prst="rect">
            <a:avLst/>
          </a:prstGeom>
          <a:solidFill>
            <a:srgbClr val="DC2626"/>
          </a:solidFill>
          <a:ln w="12700">
            <a:solidFill>
              <a:srgbClr val="DC2626"/>
            </a:solidFill>
            <a:prstDash val="solid"/>
          </a:ln>
        </p:spPr>
      </p:sp>
      <p:sp>
        <p:nvSpPr>
          <p:cNvPr id="17" name="Text 15"/>
          <p:cNvSpPr/>
          <p:nvPr/>
        </p:nvSpPr>
        <p:spPr>
          <a:xfrm>
            <a:off x="411480" y="2496312"/>
            <a:ext cx="3840480" cy="274320"/>
          </a:xfrm>
          <a:prstGeom prst="rect">
            <a:avLst/>
          </a:prstGeom>
          <a:noFill/>
          <a:ln/>
        </p:spPr>
        <p:txBody>
          <a:bodyPr wrap="square" lIns="0" tIns="0" rIns="0" bIns="0" rtlCol="0" anchor="ctr"/>
          <a:lstStyle/>
          <a:p>
            <a:pPr indent="0" marL="0">
              <a:buNone/>
            </a:pPr>
            <a:r>
              <a:rPr lang="en-US" sz="1100" b="1" dirty="0">
                <a:solidFill>
                  <a:srgbClr val="DC2626"/>
                </a:solidFill>
              </a:rPr>
              <a:t>⚡  Exploit Path</a:t>
            </a:r>
            <a:endParaRPr lang="en-US" sz="1100" dirty="0"/>
          </a:p>
        </p:txBody>
      </p:sp>
      <p:sp>
        <p:nvSpPr>
          <p:cNvPr id="18" name="Text 16"/>
          <p:cNvSpPr/>
          <p:nvPr/>
        </p:nvSpPr>
        <p:spPr>
          <a:xfrm>
            <a:off x="411480" y="2770632"/>
            <a:ext cx="3840480" cy="804672"/>
          </a:xfrm>
          <a:prstGeom prst="rect">
            <a:avLst/>
          </a:prstGeom>
          <a:noFill/>
          <a:ln/>
        </p:spPr>
        <p:txBody>
          <a:bodyPr wrap="square" lIns="0" tIns="0" rIns="0" bIns="0" rtlCol="0" anchor="ctr"/>
          <a:lstStyle/>
          <a:p>
            <a:pPr indent="0" marL="0">
              <a:buNone/>
            </a:pPr>
            <a:r>
              <a:rPr lang="en-US" sz="950" dirty="0">
                <a:solidFill>
                  <a:srgbClr val="1E293B"/>
                </a:solidFill>
              </a:rPr>
              <a:t>Attacker sends malformed requests: empty body {}, null action, numeric action field 12345, or invalid JSON. API response contains: Node.js stack traces with function names and line numbers, /var/task/ internal file paths, TypeError messages revealing code structure.</a:t>
            </a:r>
            <a:endParaRPr lang="en-US" sz="950" dirty="0"/>
          </a:p>
        </p:txBody>
      </p:sp>
      <p:sp>
        <p:nvSpPr>
          <p:cNvPr id="19" name="Shape 17"/>
          <p:cNvSpPr/>
          <p:nvPr/>
        </p:nvSpPr>
        <p:spPr>
          <a:xfrm>
            <a:off x="4663440" y="914400"/>
            <a:ext cx="4251960" cy="141732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663440" y="914400"/>
            <a:ext cx="50292" cy="1417320"/>
          </a:xfrm>
          <a:prstGeom prst="rect">
            <a:avLst/>
          </a:prstGeom>
          <a:solidFill>
            <a:srgbClr val="16A34A"/>
          </a:solidFill>
          <a:ln w="12700">
            <a:solidFill>
              <a:srgbClr val="16A34A"/>
            </a:solidFill>
            <a:prstDash val="solid"/>
          </a:ln>
        </p:spPr>
      </p:sp>
      <p:sp>
        <p:nvSpPr>
          <p:cNvPr id="21" name="Text 19"/>
          <p:cNvSpPr/>
          <p:nvPr/>
        </p:nvSpPr>
        <p:spPr>
          <a:xfrm>
            <a:off x="4846320" y="960120"/>
            <a:ext cx="3931920" cy="274320"/>
          </a:xfrm>
          <a:prstGeom prst="rect">
            <a:avLst/>
          </a:prstGeom>
          <a:noFill/>
          <a:ln/>
        </p:spPr>
        <p:txBody>
          <a:bodyPr wrap="square" lIns="0" tIns="0" rIns="0" bIns="0" rtlCol="0" anchor="ctr"/>
          <a:lstStyle/>
          <a:p>
            <a:pPr indent="0" marL="0">
              <a:buNone/>
            </a:pPr>
            <a:r>
              <a:rPr lang="en-US" sz="1100" b="1" dirty="0">
                <a:solidFill>
                  <a:srgbClr val="16A34A"/>
                </a:solidFill>
              </a:rPr>
              <a:t>✅  Fix Applied</a:t>
            </a:r>
            <a:endParaRPr lang="en-US" sz="1100" dirty="0"/>
          </a:p>
        </p:txBody>
      </p:sp>
      <p:sp>
        <p:nvSpPr>
          <p:cNvPr id="22" name="Text 20"/>
          <p:cNvSpPr/>
          <p:nvPr/>
        </p:nvSpPr>
        <p:spPr>
          <a:xfrm>
            <a:off x="4846320" y="1234440"/>
            <a:ext cx="3931920" cy="1005840"/>
          </a:xfrm>
          <a:prstGeom prst="rect">
            <a:avLst/>
          </a:prstGeom>
          <a:noFill/>
          <a:ln/>
        </p:spPr>
        <p:txBody>
          <a:bodyPr wrap="square" lIns="0" tIns="0" rIns="0" bIns="0" rtlCol="0" anchor="ctr"/>
          <a:lstStyle/>
          <a:p>
            <a:pPr indent="0" marL="0">
              <a:buNone/>
            </a:pPr>
            <a:r>
              <a:rPr lang="en-US" sz="950" dirty="0">
                <a:solidFill>
                  <a:srgbClr val="1E293B"/>
                </a:solidFill>
              </a:rPr>
              <a:t>Add try/catch around JSON.parse() at the top of every handler — return generic 400 on parse failure. Add safeError() helper that logs full details to CloudWatch internally but returns only a generic client-safe message. Wrap all promise chains with .catch() calling safeError().</a:t>
            </a:r>
            <a:endParaRPr lang="en-US" sz="950" dirty="0"/>
          </a:p>
        </p:txBody>
      </p:sp>
      <p:sp>
        <p:nvSpPr>
          <p:cNvPr id="23" name="Shape 21"/>
          <p:cNvSpPr/>
          <p:nvPr/>
        </p:nvSpPr>
        <p:spPr>
          <a:xfrm>
            <a:off x="4663440" y="2450592"/>
            <a:ext cx="4251960" cy="1170432"/>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8000"/>
              </a:srgbClr>
            </a:outerShdw>
          </a:effectLst>
        </p:spPr>
      </p:sp>
      <p:sp>
        <p:nvSpPr>
          <p:cNvPr id="24" name="Shape 22"/>
          <p:cNvSpPr/>
          <p:nvPr/>
        </p:nvSpPr>
        <p:spPr>
          <a:xfrm>
            <a:off x="4663440" y="2450592"/>
            <a:ext cx="50292" cy="1170432"/>
          </a:xfrm>
          <a:prstGeom prst="rect">
            <a:avLst/>
          </a:prstGeom>
          <a:solidFill>
            <a:srgbClr val="EA580C"/>
          </a:solidFill>
          <a:ln w="12700">
            <a:solidFill>
              <a:srgbClr val="EA580C"/>
            </a:solidFill>
            <a:prstDash val="solid"/>
          </a:ln>
        </p:spPr>
      </p:sp>
      <p:sp>
        <p:nvSpPr>
          <p:cNvPr id="25" name="Text 23"/>
          <p:cNvSpPr/>
          <p:nvPr/>
        </p:nvSpPr>
        <p:spPr>
          <a:xfrm>
            <a:off x="4846320" y="2496312"/>
            <a:ext cx="3931920" cy="274320"/>
          </a:xfrm>
          <a:prstGeom prst="rect">
            <a:avLst/>
          </a:prstGeom>
          <a:noFill/>
          <a:ln/>
        </p:spPr>
        <p:txBody>
          <a:bodyPr wrap="square" lIns="0" tIns="0" rIns="0" bIns="0" rtlCol="0" anchor="ctr"/>
          <a:lstStyle/>
          <a:p>
            <a:pPr indent="0" marL="0">
              <a:buNone/>
            </a:pPr>
            <a:r>
              <a:rPr lang="en-US" sz="1100" b="1" dirty="0">
                <a:solidFill>
                  <a:srgbClr val="EA580C"/>
                </a:solidFill>
              </a:rPr>
              <a:t>💥  Security Impact</a:t>
            </a:r>
            <a:endParaRPr lang="en-US" sz="1100" dirty="0"/>
          </a:p>
        </p:txBody>
      </p:sp>
      <p:sp>
        <p:nvSpPr>
          <p:cNvPr id="26" name="Text 24"/>
          <p:cNvSpPr/>
          <p:nvPr/>
        </p:nvSpPr>
        <p:spPr>
          <a:xfrm>
            <a:off x="4846320" y="2770632"/>
            <a:ext cx="3931920" cy="804672"/>
          </a:xfrm>
          <a:prstGeom prst="rect">
            <a:avLst/>
          </a:prstGeom>
          <a:noFill/>
          <a:ln/>
        </p:spPr>
        <p:txBody>
          <a:bodyPr wrap="square" lIns="0" tIns="0" rIns="0" bIns="0" rtlCol="0" anchor="ctr"/>
          <a:lstStyle/>
          <a:p>
            <a:pPr indent="0" marL="0">
              <a:buNone/>
            </a:pPr>
            <a:r>
              <a:rPr lang="en-US" sz="950" dirty="0">
                <a:solidFill>
                  <a:srgbClr val="1E293B"/>
                </a:solidFill>
              </a:rPr>
              <a:t>Internal architecture reconnaissance: attacker learns file paths (/var/task/order-manager.js), function names, line numbers, Node.js version, and code structure. This information directly aids further targeted attacks and vulnerability chaining.</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8A"/>
          </a:solidFill>
          <a:ln w="12700">
            <a:solidFill>
              <a:srgbClr val="1E3A8A"/>
            </a:solidFill>
            <a:prstDash val="solid"/>
          </a:ln>
        </p:spPr>
      </p:sp>
      <p:sp>
        <p:nvSpPr>
          <p:cNvPr id="3" name="Text 1"/>
          <p:cNvSpPr/>
          <p:nvPr/>
        </p:nvSpPr>
        <p:spPr>
          <a:xfrm>
            <a:off x="320040" y="137160"/>
            <a:ext cx="8503920" cy="457200"/>
          </a:xfrm>
          <a:prstGeom prst="rect">
            <a:avLst/>
          </a:prstGeom>
          <a:noFill/>
          <a:ln/>
        </p:spPr>
        <p:txBody>
          <a:bodyPr wrap="square" rtlCol="0" anchor="ctr"/>
          <a:lstStyle/>
          <a:p>
            <a:pPr indent="0" marL="0">
              <a:buNone/>
            </a:pPr>
            <a:r>
              <a:rPr lang="en-US" sz="2400" b="1" dirty="0">
                <a:solidFill>
                  <a:srgbClr val="0F172A"/>
                </a:solidFill>
                <a:latin typeface="Arial Black" pitchFamily="34" charset="0"/>
                <a:ea typeface="Arial Black" pitchFamily="34" charset="-122"/>
                <a:cs typeface="Arial Black" pitchFamily="34" charset="-120"/>
              </a:rPr>
              <a:t>Vulnerability Summary — All 10 Lessons</a:t>
            </a:r>
            <a:endParaRPr lang="en-US" sz="2400" dirty="0"/>
          </a:p>
        </p:txBody>
      </p:sp>
      <p:sp>
        <p:nvSpPr>
          <p:cNvPr id="4" name="Shape 2"/>
          <p:cNvSpPr/>
          <p:nvPr/>
        </p:nvSpPr>
        <p:spPr>
          <a:xfrm>
            <a:off x="0" y="4869180"/>
            <a:ext cx="9144000" cy="274320"/>
          </a:xfrm>
          <a:prstGeom prst="rect">
            <a:avLst/>
          </a:prstGeom>
          <a:solidFill>
            <a:srgbClr val="1E293B"/>
          </a:solidFill>
          <a:ln w="12700">
            <a:solidFill>
              <a:srgbClr val="1E293B"/>
            </a:solidFill>
            <a:prstDash val="solid"/>
          </a:ln>
        </p:spPr>
      </p:sp>
      <p:sp>
        <p:nvSpPr>
          <p:cNvPr id="5" name="Text 3"/>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6" name="Text 4"/>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14 / 15</a:t>
            </a:r>
            <a:endParaRPr lang="en-US" sz="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01168" y="713232"/>
          <a:ext cx="8741664" cy="4114800"/>
        </p:xfrm>
        <a:graphic>
          <a:graphicData uri="http://schemas.openxmlformats.org/drawingml/2006/table">
            <a:tbl>
              <a:tblPr/>
              <a:tblGrid>
                <a:gridCol w="640080"/>
                <a:gridCol w="2194560"/>
                <a:gridCol w="2560320"/>
                <a:gridCol w="3346704"/>
              </a:tblGrid>
              <a:tr h="411480">
                <a:tc>
                  <a:txBody>
                    <a:bodyPr/>
                    <a:lstStyle/>
                    <a:p>
                      <a:pPr algn="ctr" indent="0" marL="0">
                        <a:buNone/>
                      </a:pPr>
                      <a:r>
                        <a:rPr lang="en-US" sz="900" b="1" dirty="0">
                          <a:solidFill>
                            <a:srgbClr val="FFFFFF"/>
                          </a:solidFill>
                        </a:rPr>
                        <a:t>Lesson</a:t>
                      </a:r>
                      <a:endParaRPr lang="en-US" sz="9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Vulnerability</a:t>
                      </a:r>
                      <a:endParaRPr lang="en-US" sz="9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Affected Component</a:t>
                      </a:r>
                      <a:endParaRPr lang="en-US" sz="9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rPr>
                        <a:t>Fix Summary</a:t>
                      </a:r>
                      <a:endParaRPr lang="en-US" sz="90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11480">
                <a:tc>
                  <a:txBody>
                    <a:bodyPr/>
                    <a:lstStyle/>
                    <a:p>
                      <a:pPr indent="0" marL="0">
                        <a:buNone/>
                      </a:pPr>
                      <a:r>
                        <a:rPr lang="en-US" sz="850" dirty="0">
                          <a:solidFill>
                            <a:srgbClr val="1E293B"/>
                          </a:solidFill>
                        </a:rPr>
                        <a:t>#1 + #9</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Event Injection + Vuln. Deps</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ORDER-MANAGER / node-serialize</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Remove node-serialize; JSON.parse + allowlist</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11480">
                <a:tc>
                  <a:txBody>
                    <a:bodyPr/>
                    <a:lstStyle/>
                    <a:p>
                      <a:pPr indent="0" marL="0">
                        <a:buNone/>
                      </a:pPr>
                      <a:r>
                        <a:rPr lang="en-US" sz="850" dirty="0">
                          <a:solidFill>
                            <a:srgbClr val="1E293B"/>
                          </a:solidFill>
                        </a:rPr>
                        <a:t>#2</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Broken Authentication (JWT)</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ORDER-MANAGER JWT handling</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Verify JWT signature via Cognito JWKS</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indent="0" marL="0">
                        <a:buNone/>
                      </a:pPr>
                      <a:r>
                        <a:rPr lang="en-US" sz="850" dirty="0">
                          <a:solidFill>
                            <a:srgbClr val="1E293B"/>
                          </a:solidFill>
                        </a:rPr>
                        <a:t>#3</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Sensitive Data Disclosure</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ADMIN-GET-RECEIPT function</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DynamoDB ownership check before S3 URL</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11480">
                <a:tc>
                  <a:txBody>
                    <a:bodyPr/>
                    <a:lstStyle/>
                    <a:p>
                      <a:pPr indent="0" marL="0">
                        <a:buNone/>
                      </a:pPr>
                      <a:r>
                        <a:rPr lang="en-US" sz="850" dirty="0">
                          <a:solidFill>
                            <a:srgbClr val="1E293B"/>
                          </a:solidFill>
                        </a:rPr>
                        <a:t>#4</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Insecure Cloud Configuration</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S3 Receipts Bucket</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Enable Block Public Access + least-priv policy</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indent="0" marL="0">
                        <a:buNone/>
                      </a:pPr>
                      <a:r>
                        <a:rPr lang="en-US" sz="850" dirty="0">
                          <a:solidFill>
                            <a:srgbClr val="1E293B"/>
                          </a:solidFill>
                        </a:rPr>
                        <a:t>#5</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Broken Access Control</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ADMIN-UPDATE-ORDERS function</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State machine validation + caller check</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11480">
                <a:tc>
                  <a:txBody>
                    <a:bodyPr/>
                    <a:lstStyle/>
                    <a:p>
                      <a:pPr indent="0" marL="0">
                        <a:buNone/>
                      </a:pPr>
                      <a:r>
                        <a:rPr lang="en-US" sz="850" dirty="0">
                          <a:solidFill>
                            <a:srgbClr val="1E293B"/>
                          </a:solidFill>
                        </a:rPr>
                        <a:t>#6</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Denial of Service</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API Gateway / Lambda pool</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Usage plan rate limit + reserved concurrency</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indent="0" marL="0">
                        <a:buNone/>
                      </a:pPr>
                      <a:r>
                        <a:rPr lang="en-US" sz="850" dirty="0">
                          <a:solidFill>
                            <a:srgbClr val="1E293B"/>
                          </a:solidFill>
                        </a:rPr>
                        <a:t>#7</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Over-Privileged Functions</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SEND-RECEIPT-EMAIL IAM Role</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Least-privilege inline policy (specific ARNs)</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11480">
                <a:tc>
                  <a:txBody>
                    <a:bodyPr/>
                    <a:lstStyle/>
                    <a:p>
                      <a:pPr indent="0" marL="0">
                        <a:buNone/>
                      </a:pPr>
                      <a:r>
                        <a:rPr lang="en-US" sz="850" dirty="0">
                          <a:solidFill>
                            <a:srgbClr val="1E293B"/>
                          </a:solidFill>
                        </a:rPr>
                        <a:t>#8</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Logic Vulnerability (Race Cond.)</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ORDER-MANAGER billing flow</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rPr>
                        <a:t>DynamoDB ConditionExpression CAS lock</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indent="0" marL="0">
                        <a:buNone/>
                      </a:pPr>
                      <a:r>
                        <a:rPr lang="en-US" sz="850" dirty="0">
                          <a:solidFill>
                            <a:srgbClr val="1E293B"/>
                          </a:solidFill>
                        </a:rPr>
                        <a:t>#10</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Unhandled Exceptions</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All Lambda handlers</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850" dirty="0">
                          <a:solidFill>
                            <a:srgbClr val="1E293B"/>
                          </a:solidFill>
                        </a:rPr>
                        <a:t>safeError() helper + try/catch wrapping</a:t>
                      </a:r>
                      <a:endParaRPr lang="en-US" sz="850" dirty="0"/>
                    </a:p>
                  </a:txBody>
                  <a:tcPr marL="38100" marR="381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38BDF8"/>
          </a:solidFill>
          <a:ln w="12700">
            <a:solidFill>
              <a:srgbClr val="38BDF8"/>
            </a:solidFill>
            <a:prstDash val="solid"/>
          </a:ln>
        </p:spPr>
      </p:sp>
      <p:sp>
        <p:nvSpPr>
          <p:cNvPr id="3" name="Text 1"/>
          <p:cNvSpPr/>
          <p:nvPr/>
        </p:nvSpPr>
        <p:spPr>
          <a:xfrm>
            <a:off x="365760" y="228600"/>
            <a:ext cx="5303520" cy="548640"/>
          </a:xfrm>
          <a:prstGeom prst="rect">
            <a:avLst/>
          </a:prstGeom>
          <a:noFill/>
          <a:ln/>
        </p:spPr>
        <p:txBody>
          <a:bodyPr wrap="square" rtlCol="0" anchor="ctr"/>
          <a:lstStyle/>
          <a:p>
            <a:pPr indent="0" marL="0">
              <a:buNone/>
            </a:pPr>
            <a:r>
              <a:rPr lang="en-US" sz="3200" b="1" dirty="0">
                <a:solidFill>
                  <a:srgbClr val="FFFFFF"/>
                </a:solidFill>
                <a:latin typeface="Arial Black" pitchFamily="34" charset="0"/>
                <a:ea typeface="Arial Black" pitchFamily="34" charset="-122"/>
                <a:cs typeface="Arial Black" pitchFamily="34" charset="-120"/>
              </a:rPr>
              <a:t>Key Takeaways</a:t>
            </a:r>
            <a:endParaRPr lang="en-US" sz="3200" dirty="0"/>
          </a:p>
        </p:txBody>
      </p:sp>
      <p:sp>
        <p:nvSpPr>
          <p:cNvPr id="4" name="Text 2"/>
          <p:cNvSpPr/>
          <p:nvPr/>
        </p:nvSpPr>
        <p:spPr>
          <a:xfrm>
            <a:off x="365760" y="804672"/>
            <a:ext cx="5303520" cy="320040"/>
          </a:xfrm>
          <a:prstGeom prst="rect">
            <a:avLst/>
          </a:prstGeom>
          <a:noFill/>
          <a:ln/>
        </p:spPr>
        <p:txBody>
          <a:bodyPr wrap="square" rtlCol="0" anchor="ctr"/>
          <a:lstStyle/>
          <a:p>
            <a:pPr indent="0" marL="0">
              <a:buNone/>
            </a:pPr>
            <a:r>
              <a:rPr lang="en-US" sz="1200" dirty="0">
                <a:solidFill>
                  <a:srgbClr val="94A3B8"/>
                </a:solidFill>
              </a:rPr>
              <a:t>Principles for securing AWS serverless applications</a:t>
            </a:r>
            <a:endParaRPr lang="en-US" sz="1200" dirty="0"/>
          </a:p>
        </p:txBody>
      </p:sp>
      <p:sp>
        <p:nvSpPr>
          <p:cNvPr id="5" name="Shape 3"/>
          <p:cNvSpPr/>
          <p:nvPr/>
        </p:nvSpPr>
        <p:spPr>
          <a:xfrm>
            <a:off x="320040" y="1298448"/>
            <a:ext cx="2606040" cy="10058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411480" y="1371600"/>
            <a:ext cx="45720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7" name="Text 5"/>
          <p:cNvSpPr/>
          <p:nvPr/>
        </p:nvSpPr>
        <p:spPr>
          <a:xfrm>
            <a:off x="886968" y="1389888"/>
            <a:ext cx="1920240" cy="274320"/>
          </a:xfrm>
          <a:prstGeom prst="rect">
            <a:avLst/>
          </a:prstGeom>
          <a:noFill/>
          <a:ln/>
        </p:spPr>
        <p:txBody>
          <a:bodyPr wrap="square" lIns="0" tIns="0" rIns="0" bIns="0" rtlCol="0" anchor="ctr"/>
          <a:lstStyle/>
          <a:p>
            <a:pPr indent="0" marL="0">
              <a:buNone/>
            </a:pPr>
            <a:r>
              <a:rPr lang="en-US" sz="1000" b="1" dirty="0">
                <a:solidFill>
                  <a:srgbClr val="38BDF8"/>
                </a:solidFill>
              </a:rPr>
              <a:t>Never trust user input</a:t>
            </a:r>
            <a:endParaRPr lang="en-US" sz="1000" dirty="0"/>
          </a:p>
        </p:txBody>
      </p:sp>
      <p:sp>
        <p:nvSpPr>
          <p:cNvPr id="8" name="Text 6"/>
          <p:cNvSpPr/>
          <p:nvPr/>
        </p:nvSpPr>
        <p:spPr>
          <a:xfrm>
            <a:off x="886968" y="1700784"/>
            <a:ext cx="1920240" cy="521208"/>
          </a:xfrm>
          <a:prstGeom prst="rect">
            <a:avLst/>
          </a:prstGeom>
          <a:noFill/>
          <a:ln/>
        </p:spPr>
        <p:txBody>
          <a:bodyPr wrap="square" lIns="0" tIns="0" rIns="0" bIns="0" rtlCol="0" anchor="ctr"/>
          <a:lstStyle/>
          <a:p>
            <a:pPr indent="0" marL="0">
              <a:buNone/>
            </a:pPr>
            <a:r>
              <a:rPr lang="en-US" sz="850" dirty="0">
                <a:solidFill>
                  <a:srgbClr val="94A3B8"/>
                </a:solidFill>
              </a:rPr>
              <a:t>Deserialize and validate strictly — treat every API request as potentially malicious</a:t>
            </a:r>
            <a:endParaRPr lang="en-US" sz="850" dirty="0"/>
          </a:p>
        </p:txBody>
      </p:sp>
      <p:sp>
        <p:nvSpPr>
          <p:cNvPr id="9" name="Shape 7"/>
          <p:cNvSpPr/>
          <p:nvPr/>
        </p:nvSpPr>
        <p:spPr>
          <a:xfrm>
            <a:off x="320040" y="2468880"/>
            <a:ext cx="2606040" cy="10058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10" name="Text 8"/>
          <p:cNvSpPr/>
          <p:nvPr/>
        </p:nvSpPr>
        <p:spPr>
          <a:xfrm>
            <a:off x="411480" y="2542032"/>
            <a:ext cx="45720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1" name="Text 9"/>
          <p:cNvSpPr/>
          <p:nvPr/>
        </p:nvSpPr>
        <p:spPr>
          <a:xfrm>
            <a:off x="886968" y="2560320"/>
            <a:ext cx="1920240" cy="274320"/>
          </a:xfrm>
          <a:prstGeom prst="rect">
            <a:avLst/>
          </a:prstGeom>
          <a:noFill/>
          <a:ln/>
        </p:spPr>
        <p:txBody>
          <a:bodyPr wrap="square" lIns="0" tIns="0" rIns="0" bIns="0" rtlCol="0" anchor="ctr"/>
          <a:lstStyle/>
          <a:p>
            <a:pPr indent="0" marL="0">
              <a:buNone/>
            </a:pPr>
            <a:r>
              <a:rPr lang="en-US" sz="1000" b="1" dirty="0">
                <a:solidFill>
                  <a:srgbClr val="38BDF8"/>
                </a:solidFill>
              </a:rPr>
              <a:t>Verify, never just decode</a:t>
            </a:r>
            <a:endParaRPr lang="en-US" sz="1000" dirty="0"/>
          </a:p>
        </p:txBody>
      </p:sp>
      <p:sp>
        <p:nvSpPr>
          <p:cNvPr id="12" name="Text 10"/>
          <p:cNvSpPr/>
          <p:nvPr/>
        </p:nvSpPr>
        <p:spPr>
          <a:xfrm>
            <a:off x="886968" y="2871216"/>
            <a:ext cx="1920240" cy="521208"/>
          </a:xfrm>
          <a:prstGeom prst="rect">
            <a:avLst/>
          </a:prstGeom>
          <a:noFill/>
          <a:ln/>
        </p:spPr>
        <p:txBody>
          <a:bodyPr wrap="square" lIns="0" tIns="0" rIns="0" bIns="0" rtlCol="0" anchor="ctr"/>
          <a:lstStyle/>
          <a:p>
            <a:pPr indent="0" marL="0">
              <a:buNone/>
            </a:pPr>
            <a:r>
              <a:rPr lang="en-US" sz="850" dirty="0">
                <a:solidFill>
                  <a:srgbClr val="94A3B8"/>
                </a:solidFill>
              </a:rPr>
              <a:t>JWT signatures must be cryptographically verified server-side using the IdP's public keys</a:t>
            </a:r>
            <a:endParaRPr lang="en-US" sz="850" dirty="0"/>
          </a:p>
        </p:txBody>
      </p:sp>
      <p:sp>
        <p:nvSpPr>
          <p:cNvPr id="13" name="Shape 11"/>
          <p:cNvSpPr/>
          <p:nvPr/>
        </p:nvSpPr>
        <p:spPr>
          <a:xfrm>
            <a:off x="320040" y="3639312"/>
            <a:ext cx="2606040" cy="10058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411480" y="3712464"/>
            <a:ext cx="45720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5" name="Text 13"/>
          <p:cNvSpPr/>
          <p:nvPr/>
        </p:nvSpPr>
        <p:spPr>
          <a:xfrm>
            <a:off x="886968" y="3730752"/>
            <a:ext cx="1920240" cy="274320"/>
          </a:xfrm>
          <a:prstGeom prst="rect">
            <a:avLst/>
          </a:prstGeom>
          <a:noFill/>
          <a:ln/>
        </p:spPr>
        <p:txBody>
          <a:bodyPr wrap="square" lIns="0" tIns="0" rIns="0" bIns="0" rtlCol="0" anchor="ctr"/>
          <a:lstStyle/>
          <a:p>
            <a:pPr indent="0" marL="0">
              <a:buNone/>
            </a:pPr>
            <a:r>
              <a:rPr lang="en-US" sz="1000" b="1" dirty="0">
                <a:solidFill>
                  <a:srgbClr val="38BDF8"/>
                </a:solidFill>
              </a:rPr>
              <a:t>Least privilege is mandatory</a:t>
            </a:r>
            <a:endParaRPr lang="en-US" sz="1000" dirty="0"/>
          </a:p>
        </p:txBody>
      </p:sp>
      <p:sp>
        <p:nvSpPr>
          <p:cNvPr id="16" name="Text 14"/>
          <p:cNvSpPr/>
          <p:nvPr/>
        </p:nvSpPr>
        <p:spPr>
          <a:xfrm>
            <a:off x="886968" y="4041648"/>
            <a:ext cx="1920240" cy="521208"/>
          </a:xfrm>
          <a:prstGeom prst="rect">
            <a:avLst/>
          </a:prstGeom>
          <a:noFill/>
          <a:ln/>
        </p:spPr>
        <p:txBody>
          <a:bodyPr wrap="square" lIns="0" tIns="0" rIns="0" bIns="0" rtlCol="0" anchor="ctr"/>
          <a:lstStyle/>
          <a:p>
            <a:pPr indent="0" marL="0">
              <a:buNone/>
            </a:pPr>
            <a:r>
              <a:rPr lang="en-US" sz="850" dirty="0">
                <a:solidFill>
                  <a:srgbClr val="94A3B8"/>
                </a:solidFill>
              </a:rPr>
              <a:t>Lambda execution roles must be scoped to specific resources — wildcard ARNs create blast radius</a:t>
            </a:r>
            <a:endParaRPr lang="en-US" sz="850" dirty="0"/>
          </a:p>
        </p:txBody>
      </p:sp>
      <p:sp>
        <p:nvSpPr>
          <p:cNvPr id="17" name="Shape 15"/>
          <p:cNvSpPr/>
          <p:nvPr/>
        </p:nvSpPr>
        <p:spPr>
          <a:xfrm>
            <a:off x="3108960" y="1298448"/>
            <a:ext cx="2606040" cy="10058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3200400" y="1371600"/>
            <a:ext cx="45720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19" name="Text 17"/>
          <p:cNvSpPr/>
          <p:nvPr/>
        </p:nvSpPr>
        <p:spPr>
          <a:xfrm>
            <a:off x="3675888" y="1389888"/>
            <a:ext cx="1920240" cy="274320"/>
          </a:xfrm>
          <a:prstGeom prst="rect">
            <a:avLst/>
          </a:prstGeom>
          <a:noFill/>
          <a:ln/>
        </p:spPr>
        <p:txBody>
          <a:bodyPr wrap="square" lIns="0" tIns="0" rIns="0" bIns="0" rtlCol="0" anchor="ctr"/>
          <a:lstStyle/>
          <a:p>
            <a:pPr indent="0" marL="0">
              <a:buNone/>
            </a:pPr>
            <a:r>
              <a:rPr lang="en-US" sz="1000" b="1" dirty="0">
                <a:solidFill>
                  <a:srgbClr val="38BDF8"/>
                </a:solidFill>
              </a:rPr>
              <a:t>Enforce state server-side</a:t>
            </a:r>
            <a:endParaRPr lang="en-US" sz="1000" dirty="0"/>
          </a:p>
        </p:txBody>
      </p:sp>
      <p:sp>
        <p:nvSpPr>
          <p:cNvPr id="20" name="Text 18"/>
          <p:cNvSpPr/>
          <p:nvPr/>
        </p:nvSpPr>
        <p:spPr>
          <a:xfrm>
            <a:off x="3675888" y="1700784"/>
            <a:ext cx="1920240" cy="521208"/>
          </a:xfrm>
          <a:prstGeom prst="rect">
            <a:avLst/>
          </a:prstGeom>
          <a:noFill/>
          <a:ln/>
        </p:spPr>
        <p:txBody>
          <a:bodyPr wrap="square" lIns="0" tIns="0" rIns="0" bIns="0" rtlCol="0" anchor="ctr"/>
          <a:lstStyle/>
          <a:p>
            <a:pPr indent="0" marL="0">
              <a:buNone/>
            </a:pPr>
            <a:r>
              <a:rPr lang="en-US" sz="850" dirty="0">
                <a:solidFill>
                  <a:srgbClr val="94A3B8"/>
                </a:solidFill>
              </a:rPr>
              <a:t>State transitions, payment workflows, and access control must be validated at every function boundary</a:t>
            </a:r>
            <a:endParaRPr lang="en-US" sz="850" dirty="0"/>
          </a:p>
        </p:txBody>
      </p:sp>
      <p:sp>
        <p:nvSpPr>
          <p:cNvPr id="21" name="Shape 19"/>
          <p:cNvSpPr/>
          <p:nvPr/>
        </p:nvSpPr>
        <p:spPr>
          <a:xfrm>
            <a:off x="3108960" y="2468880"/>
            <a:ext cx="2606040" cy="10058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22" name="Text 20"/>
          <p:cNvSpPr/>
          <p:nvPr/>
        </p:nvSpPr>
        <p:spPr>
          <a:xfrm>
            <a:off x="3200400" y="2542032"/>
            <a:ext cx="45720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3" name="Text 21"/>
          <p:cNvSpPr/>
          <p:nvPr/>
        </p:nvSpPr>
        <p:spPr>
          <a:xfrm>
            <a:off x="3675888" y="2560320"/>
            <a:ext cx="1920240" cy="274320"/>
          </a:xfrm>
          <a:prstGeom prst="rect">
            <a:avLst/>
          </a:prstGeom>
          <a:noFill/>
          <a:ln/>
        </p:spPr>
        <p:txBody>
          <a:bodyPr wrap="square" lIns="0" tIns="0" rIns="0" bIns="0" rtlCol="0" anchor="ctr"/>
          <a:lstStyle/>
          <a:p>
            <a:pPr indent="0" marL="0">
              <a:buNone/>
            </a:pPr>
            <a:r>
              <a:rPr lang="en-US" sz="1000" b="1" dirty="0">
                <a:solidFill>
                  <a:srgbClr val="38BDF8"/>
                </a:solidFill>
              </a:rPr>
              <a:t>Rate limit and isolate</a:t>
            </a:r>
            <a:endParaRPr lang="en-US" sz="1000" dirty="0"/>
          </a:p>
        </p:txBody>
      </p:sp>
      <p:sp>
        <p:nvSpPr>
          <p:cNvPr id="24" name="Text 22"/>
          <p:cNvSpPr/>
          <p:nvPr/>
        </p:nvSpPr>
        <p:spPr>
          <a:xfrm>
            <a:off x="3675888" y="2871216"/>
            <a:ext cx="1920240" cy="521208"/>
          </a:xfrm>
          <a:prstGeom prst="rect">
            <a:avLst/>
          </a:prstGeom>
          <a:noFill/>
          <a:ln/>
        </p:spPr>
        <p:txBody>
          <a:bodyPr wrap="square" lIns="0" tIns="0" rIns="0" bIns="0" rtlCol="0" anchor="ctr"/>
          <a:lstStyle/>
          <a:p>
            <a:pPr indent="0" marL="0">
              <a:buNone/>
            </a:pPr>
            <a:r>
              <a:rPr lang="en-US" sz="850" dirty="0">
                <a:solidFill>
                  <a:srgbClr val="94A3B8"/>
                </a:solidFill>
              </a:rPr>
              <a:t>Reserved concurrency + usage plans prevent DoS and protect other functions from being starved</a:t>
            </a:r>
            <a:endParaRPr lang="en-US" sz="850" dirty="0"/>
          </a:p>
        </p:txBody>
      </p:sp>
      <p:sp>
        <p:nvSpPr>
          <p:cNvPr id="25" name="Shape 23"/>
          <p:cNvSpPr/>
          <p:nvPr/>
        </p:nvSpPr>
        <p:spPr>
          <a:xfrm>
            <a:off x="3108960" y="3639312"/>
            <a:ext cx="2606040" cy="10058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18000"/>
              </a:srgbClr>
            </a:outerShdw>
          </a:effectLst>
        </p:spPr>
      </p:sp>
      <p:sp>
        <p:nvSpPr>
          <p:cNvPr id="26" name="Text 24"/>
          <p:cNvSpPr/>
          <p:nvPr/>
        </p:nvSpPr>
        <p:spPr>
          <a:xfrm>
            <a:off x="3200400" y="3712464"/>
            <a:ext cx="457200" cy="457200"/>
          </a:xfrm>
          <a:prstGeom prst="rect">
            <a:avLst/>
          </a:prstGeom>
          <a:noFill/>
          <a:ln/>
        </p:spPr>
        <p:txBody>
          <a:bodyPr wrap="square" lIns="0" tIns="0" rIns="0" bIns="0" rtlCol="0" anchor="ctr"/>
          <a:lstStyle/>
          <a:p>
            <a:pPr indent="0" marL="0">
              <a:buNone/>
            </a:pPr>
            <a:r>
              <a:rPr lang="en-US" sz="1800" dirty="0">
                <a:solidFill>
                  <a:srgbClr val="000000"/>
                </a:solidFill>
              </a:rPr>
              <a:t>🐛</a:t>
            </a:r>
            <a:endParaRPr lang="en-US" sz="1800" dirty="0"/>
          </a:p>
        </p:txBody>
      </p:sp>
      <p:sp>
        <p:nvSpPr>
          <p:cNvPr id="27" name="Text 25"/>
          <p:cNvSpPr/>
          <p:nvPr/>
        </p:nvSpPr>
        <p:spPr>
          <a:xfrm>
            <a:off x="3675888" y="3730752"/>
            <a:ext cx="1920240" cy="274320"/>
          </a:xfrm>
          <a:prstGeom prst="rect">
            <a:avLst/>
          </a:prstGeom>
          <a:noFill/>
          <a:ln/>
        </p:spPr>
        <p:txBody>
          <a:bodyPr wrap="square" lIns="0" tIns="0" rIns="0" bIns="0" rtlCol="0" anchor="ctr"/>
          <a:lstStyle/>
          <a:p>
            <a:pPr indent="0" marL="0">
              <a:buNone/>
            </a:pPr>
            <a:r>
              <a:rPr lang="en-US" sz="1000" b="1" dirty="0">
                <a:solidFill>
                  <a:srgbClr val="38BDF8"/>
                </a:solidFill>
              </a:rPr>
              <a:t>Error handling = security</a:t>
            </a:r>
            <a:endParaRPr lang="en-US" sz="1000" dirty="0"/>
          </a:p>
        </p:txBody>
      </p:sp>
      <p:sp>
        <p:nvSpPr>
          <p:cNvPr id="28" name="Text 26"/>
          <p:cNvSpPr/>
          <p:nvPr/>
        </p:nvSpPr>
        <p:spPr>
          <a:xfrm>
            <a:off x="3675888" y="4041648"/>
            <a:ext cx="1920240" cy="521208"/>
          </a:xfrm>
          <a:prstGeom prst="rect">
            <a:avLst/>
          </a:prstGeom>
          <a:noFill/>
          <a:ln/>
        </p:spPr>
        <p:txBody>
          <a:bodyPr wrap="square" lIns="0" tIns="0" rIns="0" bIns="0" rtlCol="0" anchor="ctr"/>
          <a:lstStyle/>
          <a:p>
            <a:pPr indent="0" marL="0">
              <a:buNone/>
            </a:pPr>
            <a:r>
              <a:rPr lang="en-US" sz="850" dirty="0">
                <a:solidFill>
                  <a:srgbClr val="94A3B8"/>
                </a:solidFill>
              </a:rPr>
              <a:t>Never leak stack traces or paths to clients — log internally, return generic messages externally</a:t>
            </a:r>
            <a:endParaRPr lang="en-US" sz="850" dirty="0"/>
          </a:p>
        </p:txBody>
      </p:sp>
      <p:sp>
        <p:nvSpPr>
          <p:cNvPr id="29" name="Shape 27"/>
          <p:cNvSpPr/>
          <p:nvPr/>
        </p:nvSpPr>
        <p:spPr>
          <a:xfrm>
            <a:off x="6035040" y="1097280"/>
            <a:ext cx="2926080" cy="3794760"/>
          </a:xfrm>
          <a:prstGeom prst="rect">
            <a:avLst/>
          </a:prstGeom>
          <a:solidFill>
            <a:srgbClr val="1E293B"/>
          </a:solidFill>
          <a:ln w="12700">
            <a:solidFill>
              <a:srgbClr val="1E293B"/>
            </a:solidFill>
            <a:prstDash val="solid"/>
          </a:ln>
        </p:spPr>
      </p:sp>
      <p:sp>
        <p:nvSpPr>
          <p:cNvPr id="30" name="Shape 28"/>
          <p:cNvSpPr/>
          <p:nvPr/>
        </p:nvSpPr>
        <p:spPr>
          <a:xfrm>
            <a:off x="6035040" y="1097280"/>
            <a:ext cx="2926080" cy="54864"/>
          </a:xfrm>
          <a:prstGeom prst="rect">
            <a:avLst/>
          </a:prstGeom>
          <a:solidFill>
            <a:srgbClr val="38BDF8"/>
          </a:solidFill>
          <a:ln w="12700">
            <a:solidFill>
              <a:srgbClr val="38BDF8"/>
            </a:solidFill>
            <a:prstDash val="solid"/>
          </a:ln>
        </p:spPr>
      </p:sp>
      <p:sp>
        <p:nvSpPr>
          <p:cNvPr id="31" name="Text 29"/>
          <p:cNvSpPr/>
          <p:nvPr/>
        </p:nvSpPr>
        <p:spPr>
          <a:xfrm>
            <a:off x="6144768" y="1234440"/>
            <a:ext cx="2651760" cy="320040"/>
          </a:xfrm>
          <a:prstGeom prst="rect">
            <a:avLst/>
          </a:prstGeom>
          <a:noFill/>
          <a:ln/>
        </p:spPr>
        <p:txBody>
          <a:bodyPr wrap="square" lIns="0" tIns="0" rIns="0" bIns="0" rtlCol="0" anchor="ctr"/>
          <a:lstStyle/>
          <a:p>
            <a:pPr indent="0" marL="0">
              <a:buNone/>
            </a:pPr>
            <a:r>
              <a:rPr lang="en-US" sz="1200" b="1" dirty="0">
                <a:solidFill>
                  <a:srgbClr val="38BDF8"/>
                </a:solidFill>
              </a:rPr>
              <a:t>Project Deliverables</a:t>
            </a:r>
            <a:endParaRPr lang="en-US" sz="1200" dirty="0"/>
          </a:p>
        </p:txBody>
      </p:sp>
      <p:sp>
        <p:nvSpPr>
          <p:cNvPr id="32" name="Text 30"/>
          <p:cNvSpPr/>
          <p:nvPr/>
        </p:nvSpPr>
        <p:spPr>
          <a:xfrm>
            <a:off x="6144768" y="1664208"/>
            <a:ext cx="2651760" cy="320040"/>
          </a:xfrm>
          <a:prstGeom prst="rect">
            <a:avLst/>
          </a:prstGeom>
          <a:noFill/>
          <a:ln/>
        </p:spPr>
        <p:txBody>
          <a:bodyPr wrap="square" lIns="0" tIns="0" rIns="0" bIns="0" rtlCol="0" anchor="ctr"/>
          <a:lstStyle/>
          <a:p>
            <a:pPr indent="0" marL="0">
              <a:buNone/>
            </a:pPr>
            <a:r>
              <a:rPr lang="en-US" sz="1000" dirty="0">
                <a:solidFill>
                  <a:srgbClr val="FFFFFF"/>
                </a:solidFill>
              </a:rPr>
              <a:t>✅  Written Report (PDF &amp; DOCX)</a:t>
            </a:r>
            <a:endParaRPr lang="en-US" sz="1000" dirty="0"/>
          </a:p>
        </p:txBody>
      </p:sp>
      <p:sp>
        <p:nvSpPr>
          <p:cNvPr id="33" name="Text 31"/>
          <p:cNvSpPr/>
          <p:nvPr/>
        </p:nvSpPr>
        <p:spPr>
          <a:xfrm>
            <a:off x="6144768" y="2066544"/>
            <a:ext cx="2651760" cy="320040"/>
          </a:xfrm>
          <a:prstGeom prst="rect">
            <a:avLst/>
          </a:prstGeom>
          <a:noFill/>
          <a:ln/>
        </p:spPr>
        <p:txBody>
          <a:bodyPr wrap="square" lIns="0" tIns="0" rIns="0" bIns="0" rtlCol="0" anchor="ctr"/>
          <a:lstStyle/>
          <a:p>
            <a:pPr indent="0" marL="0">
              <a:buNone/>
            </a:pPr>
            <a:r>
              <a:rPr lang="en-US" sz="1000" dirty="0">
                <a:solidFill>
                  <a:srgbClr val="FFFFFF"/>
                </a:solidFill>
              </a:rPr>
              <a:t>✅  Presentation Slides (PPTX)</a:t>
            </a:r>
            <a:endParaRPr lang="en-US" sz="1000" dirty="0"/>
          </a:p>
        </p:txBody>
      </p:sp>
      <p:sp>
        <p:nvSpPr>
          <p:cNvPr id="34" name="Text 32"/>
          <p:cNvSpPr/>
          <p:nvPr/>
        </p:nvSpPr>
        <p:spPr>
          <a:xfrm>
            <a:off x="6144768" y="2468880"/>
            <a:ext cx="2651760" cy="320040"/>
          </a:xfrm>
          <a:prstGeom prst="rect">
            <a:avLst/>
          </a:prstGeom>
          <a:noFill/>
          <a:ln/>
        </p:spPr>
        <p:txBody>
          <a:bodyPr wrap="square" lIns="0" tIns="0" rIns="0" bIns="0" rtlCol="0" anchor="ctr"/>
          <a:lstStyle/>
          <a:p>
            <a:pPr indent="0" marL="0">
              <a:buNone/>
            </a:pPr>
            <a:r>
              <a:rPr lang="en-US" sz="1000" dirty="0">
                <a:solidFill>
                  <a:srgbClr val="FFFFFF"/>
                </a:solidFill>
              </a:rPr>
              <a:t>✅  GitHub Repository + Scripts</a:t>
            </a:r>
            <a:endParaRPr lang="en-US" sz="1000" dirty="0"/>
          </a:p>
        </p:txBody>
      </p:sp>
      <p:sp>
        <p:nvSpPr>
          <p:cNvPr id="35" name="Text 33"/>
          <p:cNvSpPr/>
          <p:nvPr/>
        </p:nvSpPr>
        <p:spPr>
          <a:xfrm>
            <a:off x="6144768" y="2871216"/>
            <a:ext cx="2651760" cy="320040"/>
          </a:xfrm>
          <a:prstGeom prst="rect">
            <a:avLst/>
          </a:prstGeom>
          <a:noFill/>
          <a:ln/>
        </p:spPr>
        <p:txBody>
          <a:bodyPr wrap="square" lIns="0" tIns="0" rIns="0" bIns="0" rtlCol="0" anchor="ctr"/>
          <a:lstStyle/>
          <a:p>
            <a:pPr indent="0" marL="0">
              <a:buNone/>
            </a:pPr>
            <a:r>
              <a:rPr lang="en-US" sz="1000" dirty="0">
                <a:solidFill>
                  <a:srgbClr val="FFFFFF"/>
                </a:solidFill>
              </a:rPr>
              <a:t>✅  Demo Video Recording</a:t>
            </a:r>
            <a:endParaRPr lang="en-US" sz="1000" dirty="0"/>
          </a:p>
        </p:txBody>
      </p:sp>
      <p:sp>
        <p:nvSpPr>
          <p:cNvPr id="36" name="Shape 34"/>
          <p:cNvSpPr/>
          <p:nvPr/>
        </p:nvSpPr>
        <p:spPr>
          <a:xfrm>
            <a:off x="6144768" y="3401568"/>
            <a:ext cx="2651760" cy="36576"/>
          </a:xfrm>
          <a:prstGeom prst="rect">
            <a:avLst/>
          </a:prstGeom>
          <a:solidFill>
            <a:srgbClr val="94A3B8"/>
          </a:solidFill>
          <a:ln w="12700">
            <a:solidFill>
              <a:srgbClr val="94A3B8"/>
            </a:solidFill>
            <a:prstDash val="solid"/>
          </a:ln>
        </p:spPr>
      </p:sp>
      <p:sp>
        <p:nvSpPr>
          <p:cNvPr id="37" name="Text 35"/>
          <p:cNvSpPr/>
          <p:nvPr/>
        </p:nvSpPr>
        <p:spPr>
          <a:xfrm>
            <a:off x="6144768" y="3520440"/>
            <a:ext cx="2651760" cy="274320"/>
          </a:xfrm>
          <a:prstGeom prst="rect">
            <a:avLst/>
          </a:prstGeom>
          <a:noFill/>
          <a:ln/>
        </p:spPr>
        <p:txBody>
          <a:bodyPr wrap="square" lIns="0" tIns="0" rIns="0" bIns="0" rtlCol="0" anchor="ctr"/>
          <a:lstStyle/>
          <a:p>
            <a:pPr indent="0" marL="0">
              <a:buNone/>
            </a:pPr>
            <a:r>
              <a:rPr lang="en-US" sz="900" dirty="0">
                <a:solidFill>
                  <a:srgbClr val="94A3B8"/>
                </a:solidFill>
              </a:rPr>
              <a:t>ICS-344 | Term 252 | KFUPM</a:t>
            </a:r>
            <a:endParaRPr lang="en-US" sz="900" dirty="0"/>
          </a:p>
        </p:txBody>
      </p:sp>
      <p:sp>
        <p:nvSpPr>
          <p:cNvPr id="38" name="Text 36"/>
          <p:cNvSpPr/>
          <p:nvPr/>
        </p:nvSpPr>
        <p:spPr>
          <a:xfrm>
            <a:off x="6144768" y="3840480"/>
            <a:ext cx="2651760" cy="274320"/>
          </a:xfrm>
          <a:prstGeom prst="rect">
            <a:avLst/>
          </a:prstGeom>
          <a:noFill/>
          <a:ln/>
        </p:spPr>
        <p:txBody>
          <a:bodyPr wrap="square" lIns="0" tIns="0" rIns="0" bIns="0" rtlCol="0" anchor="ctr"/>
          <a:lstStyle/>
          <a:p>
            <a:pPr indent="0" marL="0">
              <a:buNone/>
            </a:pPr>
            <a:r>
              <a:rPr lang="en-US" sz="900" i="1" dirty="0">
                <a:solidFill>
                  <a:srgbClr val="94A3B8"/>
                </a:solidFill>
              </a:rPr>
              <a:t>[Student Name(s) &amp; ID(s)]</a:t>
            </a:r>
            <a:endParaRPr lang="en-US" sz="900" dirty="0"/>
          </a:p>
        </p:txBody>
      </p:sp>
      <p:sp>
        <p:nvSpPr>
          <p:cNvPr id="39" name="Shape 37"/>
          <p:cNvSpPr/>
          <p:nvPr/>
        </p:nvSpPr>
        <p:spPr>
          <a:xfrm>
            <a:off x="0" y="4869180"/>
            <a:ext cx="9144000" cy="274320"/>
          </a:xfrm>
          <a:prstGeom prst="rect">
            <a:avLst/>
          </a:prstGeom>
          <a:solidFill>
            <a:srgbClr val="1E293B"/>
          </a:solidFill>
          <a:ln w="12700">
            <a:solidFill>
              <a:srgbClr val="1E293B"/>
            </a:solidFill>
            <a:prstDash val="solid"/>
          </a:ln>
        </p:spPr>
      </p:sp>
      <p:sp>
        <p:nvSpPr>
          <p:cNvPr id="40" name="Text 38"/>
          <p:cNvSpPr/>
          <p:nvPr/>
        </p:nvSpPr>
        <p:spPr>
          <a:xfrm>
            <a:off x="274320" y="4887468"/>
            <a:ext cx="6400800" cy="237744"/>
          </a:xfrm>
          <a:prstGeom prst="rect">
            <a:avLst/>
          </a:prstGeom>
          <a:noFill/>
          <a:ln/>
        </p:spPr>
        <p:txBody>
          <a:bodyPr wrap="square" rtlCol="0" anchor="ctr"/>
          <a:lstStyle/>
          <a:p>
            <a:pPr indent="0" marL="0">
              <a:buNone/>
            </a:pPr>
            <a:r>
              <a:rPr lang="en-US" sz="700" dirty="0">
                <a:solidFill>
                  <a:srgbClr val="94A3B8"/>
                </a:solidFill>
              </a:rPr>
              <a:t>ICS-344 | DVSA Vulnerability Discovery &amp; Remediation | KFUPM — Term 252</a:t>
            </a:r>
            <a:endParaRPr lang="en-US" sz="700" dirty="0"/>
          </a:p>
        </p:txBody>
      </p:sp>
      <p:sp>
        <p:nvSpPr>
          <p:cNvPr id="41" name="Text 39"/>
          <p:cNvSpPr/>
          <p:nvPr/>
        </p:nvSpPr>
        <p:spPr>
          <a:xfrm>
            <a:off x="6858000" y="4887468"/>
            <a:ext cx="2011680" cy="237744"/>
          </a:xfrm>
          <a:prstGeom prst="rect">
            <a:avLst/>
          </a:prstGeom>
          <a:noFill/>
          <a:ln/>
        </p:spPr>
        <p:txBody>
          <a:bodyPr wrap="square" rtlCol="0" anchor="ctr"/>
          <a:lstStyle/>
          <a:p>
            <a:pPr algn="r" indent="0" marL="0">
              <a:buNone/>
            </a:pPr>
            <a:r>
              <a:rPr lang="en-US" sz="700" dirty="0">
                <a:solidFill>
                  <a:srgbClr val="94A3B8"/>
                </a:solidFill>
              </a:rPr>
              <a:t>15 / 15</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DVSA Vulnerability Discovery and Remediation</dc:title>
  <dc:subject>PptxGenJS Presentation</dc:subject>
  <dc:creator>ICS-344 Student — KFUPM</dc:creator>
  <cp:lastModifiedBy>ICS-344 Student — KFUPM</cp:lastModifiedBy>
  <cp:revision>1</cp:revision>
  <dcterms:created xsi:type="dcterms:W3CDTF">2026-05-01T08:55:18Z</dcterms:created>
  <dcterms:modified xsi:type="dcterms:W3CDTF">2026-05-01T08:55:18Z</dcterms:modified>
</cp:coreProperties>
</file>